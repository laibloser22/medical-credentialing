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3"/>
  </p:notesMasterIdLst>
  <p:sldIdLst>
    <p:sldId id="256" r:id="rId2"/>
    <p:sldId id="259" r:id="rId3"/>
    <p:sldId id="260" r:id="rId4"/>
    <p:sldId id="261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300" r:id="rId36"/>
    <p:sldId id="301" r:id="rId37"/>
    <p:sldId id="302" r:id="rId38"/>
    <p:sldId id="303" r:id="rId39"/>
    <p:sldId id="304" r:id="rId40"/>
    <p:sldId id="299" r:id="rId41"/>
    <p:sldId id="298" r:id="rId42"/>
  </p:sldIdLst>
  <p:sldSz cx="9144000" cy="6858000" type="screen4x3"/>
  <p:notesSz cx="9144000" cy="6858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9"/>
  </p:normalViewPr>
  <p:slideViewPr>
    <p:cSldViewPr>
      <p:cViewPr varScale="1">
        <p:scale>
          <a:sx n="112" d="100"/>
          <a:sy n="112" d="100"/>
        </p:scale>
        <p:origin x="45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5746C-1868-48D0-8D62-54AF07B35487}" type="datetimeFigureOut">
              <a:rPr lang="en-PK" smtClean="0"/>
              <a:t>01/03/2026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67740A-94C6-44C6-9FF7-673E65FF51A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6672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47712-8BBE-F6CE-F350-1CB8A0DAE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11793-C340-8716-7509-27211A51C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C9C80-6C2D-7AA1-F541-98F73793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6165D-D3E6-9D6B-5088-9521771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03A4C-F634-8D8E-50D1-922C08C4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409580663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796E5-83D1-A989-0531-2B5CCE16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EC727-7D98-2450-3677-F0D1AD653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97214-AF90-9E30-0E7F-6C4945E7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715F0-2358-4341-AAF9-0E71C637B2CC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BCCC-8752-8C33-D70F-9EA28CE16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3B5D0-A792-AA0A-07CD-227D37D3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215713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12E9-5187-DAE7-AC24-BBCCC522B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C7786-DF11-0427-F9D5-CA0F1F0FB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04184-8899-3F42-831D-989057BB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6E426-91D5-5B7C-8B7B-E0AC683B9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12360-BF48-A66B-DD3B-88358DE4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96059138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9FC5C-A8F2-FA06-64D0-4CB6E9A77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01B0B-68A1-7DE9-C908-96F409C12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20048-0367-1BD6-1A3B-1DB190F83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7648A-298C-92D7-F6D5-00972EC87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D0C824-7293-9467-2882-58DAE2D0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DF160-E604-04C5-3A5E-2703E578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14631128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8B615-A2E3-0D6E-CCD1-D583C839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684C1-8121-58BB-6AED-30E341E3D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99D54F-5384-BC10-1EC4-4404ADE3A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24CBD-0A73-1635-7332-7BA7400A2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20B46-6390-56DE-CA62-41D6F9967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C5333-DE61-19A7-7677-859476C9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5DCDA-CD53-A858-0C39-2E4A4238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C85DA4-6ECD-D609-E174-F185F8CC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354482388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D7C7-9FEA-8714-EA6F-ACB949E1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9A35B4-A7FF-E9B8-FC01-0D459287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EF5C8-4A62-449B-9CBA-A65C66A2F58A}" type="datetime1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DFA636-213F-9938-FC66-077F6AFA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1B14F5-5A83-5CC6-916E-D21CC793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2232379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A101E-D0FC-A859-18BF-D9BA29A4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18840-CA72-400F-B1AF-CF08FC1D1E19}" type="datetime1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4B9A5-5EE3-8E14-EE2A-FA753CD94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77110-07F3-CBA6-B5AA-B6D25AA7B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58096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C01D-CA38-FD4F-8350-BBFE0E281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F1F39-1EC7-44AB-C146-496BD570D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AB27A-F976-C3D1-F24A-9EAC0A362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EA32E-5EB6-464B-F5A7-0BA6D765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AB9F9-876A-B9B5-33E6-172F31A97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F8FD2-2849-E37E-EECD-27B29B625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17993675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BD299-46C4-A6E0-0EA6-1DB287C2C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B446C4-1784-E45B-24C6-2B58796E4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5DE93A-C562-ECC3-285D-790D740FC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B29B8A-3AA2-4C83-0C6D-0180D0B73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C8000-E052-D85B-2404-DA97F81A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B5A10-6B06-4E04-23F9-75B28D3A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205700559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3FD5-2501-5F1D-ABED-9E1FC9A12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513CE-B1B5-FE7B-AE32-21F84E603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7C628-BDBB-DB65-14BA-6D31BC60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C18AE-668E-92AA-AA77-7B6CB06D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ACA8E-9194-4D53-80A2-6B807476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38100894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C9A845-C4C8-EFB8-613A-4CBD32E79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1E707-B358-92E7-676E-2835047F5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420D-B501-F592-AAF1-89FA60F0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39A8D-809B-2106-B2D5-78B03B2B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F33E7-C62A-1C54-11CF-48267022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24105739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3FF19-B46D-180E-EBFE-D12B40EAC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7DC0-8A29-7C27-5EF6-7FC416DE3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80E4C-B4D8-F5A1-C3F3-F27103B03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5EA83-3837-4B2E-A51C-97C031CA998B}" type="datetime1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2CF1A-C880-04C5-A5B7-0E0886C1D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2700">
              <a:lnSpc>
                <a:spcPts val="1045"/>
              </a:lnSpc>
            </a:pPr>
            <a:r>
              <a:rPr lang="en-GB"/>
              <a:t>Dr.</a:t>
            </a:r>
            <a:r>
              <a:rPr lang="en-GB" spc="-15"/>
              <a:t> </a:t>
            </a:r>
            <a:r>
              <a:rPr lang="en-GB"/>
              <a:t>Hashim</a:t>
            </a:r>
            <a:r>
              <a:rPr lang="en-GB" spc="-20"/>
              <a:t> </a:t>
            </a:r>
            <a:r>
              <a:rPr lang="en-GB" spc="-10"/>
              <a:t>Yasin</a:t>
            </a:r>
            <a:endParaRPr lang="en-GB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D5901-AEFE-AB6B-FD8F-27C92C0F4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‹#›</a:t>
            </a:fld>
            <a:endParaRPr lang="en-PK" spc="-50" dirty="0"/>
          </a:p>
        </p:txBody>
      </p:sp>
    </p:spTree>
    <p:extLst>
      <p:ext uri="{BB962C8B-B14F-4D97-AF65-F5344CB8AC3E}">
        <p14:creationId xmlns:p14="http://schemas.microsoft.com/office/powerpoint/2010/main" val="1440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rcRect t="45144"/>
          <a:stretch>
            <a:fillRect/>
          </a:stretch>
        </p:blipFill>
        <p:spPr>
          <a:xfrm>
            <a:off x="3698740" y="2895600"/>
            <a:ext cx="4659644" cy="62411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980BC-C3AB-24A6-D6D8-D85467065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1</a:t>
            </a:fld>
            <a:endParaRPr lang="en-PK" spc="-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1A1D97-20E1-A936-1679-A1C9E14EBC09}"/>
              </a:ext>
            </a:extLst>
          </p:cNvPr>
          <p:cNvSpPr txBox="1"/>
          <p:nvPr/>
        </p:nvSpPr>
        <p:spPr>
          <a:xfrm>
            <a:off x="5532120" y="4069080"/>
            <a:ext cx="2468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/>
              <a:t>Week 1 (</a:t>
            </a:r>
            <a:r>
              <a:rPr lang="en-PK" dirty="0"/>
              <a:t>lecture </a:t>
            </a:r>
            <a:r>
              <a:rPr lang="en-PK"/>
              <a:t>1 &amp; 2 </a:t>
            </a:r>
            <a:r>
              <a:rPr lang="en-PK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40151" y="4971745"/>
            <a:ext cx="295338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latin typeface="Calibri"/>
                <a:cs typeface="Calibri"/>
              </a:rPr>
              <a:t>Artificial</a:t>
            </a:r>
            <a:r>
              <a:rPr sz="2700" b="1" spc="-9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Intelligence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2590" y="5391403"/>
            <a:ext cx="4666615" cy="6197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Approach</a:t>
            </a:r>
            <a:endParaRPr sz="1800">
              <a:latin typeface="Calibri"/>
              <a:cs typeface="Calibri"/>
            </a:endParaRPr>
          </a:p>
          <a:p>
            <a:pPr marL="1527810">
              <a:lnSpc>
                <a:spcPct val="100000"/>
              </a:lnSpc>
              <a:spcBef>
                <a:spcPts val="180"/>
              </a:spcBef>
            </a:pPr>
            <a:r>
              <a:rPr sz="1800" b="1" dirty="0">
                <a:latin typeface="Calibri"/>
                <a:cs typeface="Calibri"/>
              </a:rPr>
              <a:t>Stuart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J.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Russell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Peter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Norvig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43" y="664392"/>
            <a:ext cx="4229878" cy="3926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81323" y="1524000"/>
            <a:ext cx="2462276" cy="319963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43" y="664392"/>
            <a:ext cx="4229878" cy="3926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33698" y="1642617"/>
            <a:ext cx="2586101" cy="323418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69690" y="5156708"/>
            <a:ext cx="27349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u="none" dirty="0"/>
              <a:t>Artificial</a:t>
            </a:r>
            <a:r>
              <a:rPr sz="2500" u="none" spc="-85" dirty="0"/>
              <a:t> </a:t>
            </a:r>
            <a:r>
              <a:rPr sz="2500" u="none" spc="-10" dirty="0"/>
              <a:t>Intelligence</a:t>
            </a:r>
            <a:endParaRPr sz="25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5" name="object 5"/>
          <p:cNvSpPr txBox="1"/>
          <p:nvPr/>
        </p:nvSpPr>
        <p:spPr>
          <a:xfrm>
            <a:off x="4822063" y="5668772"/>
            <a:ext cx="13970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dirty="0">
                <a:latin typeface="Calibri"/>
                <a:cs typeface="Calibri"/>
              </a:rPr>
              <a:t>George</a:t>
            </a:r>
            <a:r>
              <a:rPr sz="1700" b="1" spc="-85" dirty="0">
                <a:latin typeface="Calibri"/>
                <a:cs typeface="Calibri"/>
              </a:rPr>
              <a:t> </a:t>
            </a:r>
            <a:r>
              <a:rPr sz="1700" b="1" spc="-50" dirty="0">
                <a:latin typeface="Calibri"/>
                <a:cs typeface="Calibri"/>
              </a:rPr>
              <a:t>F. </a:t>
            </a:r>
            <a:r>
              <a:rPr sz="1700" b="1" spc="-20" dirty="0">
                <a:latin typeface="Calibri"/>
                <a:cs typeface="Calibri"/>
              </a:rPr>
              <a:t>Luger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43" y="664392"/>
            <a:ext cx="4229878" cy="3926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65703" y="4711549"/>
            <a:ext cx="3794760" cy="160528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300" b="1" dirty="0">
                <a:latin typeface="Calibri"/>
                <a:cs typeface="Calibri"/>
              </a:rPr>
              <a:t>Artificial</a:t>
            </a:r>
            <a:r>
              <a:rPr sz="2300" b="1" spc="-30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Intelligence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700" spc="-10" dirty="0">
                <a:latin typeface="Calibri"/>
                <a:cs typeface="Calibri"/>
              </a:rPr>
              <a:t>Foundation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Computational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Agents</a:t>
            </a:r>
            <a:endParaRPr sz="1700">
              <a:latin typeface="Calibri"/>
              <a:cs typeface="Calibri"/>
            </a:endParaRPr>
          </a:p>
          <a:p>
            <a:pPr marL="817244">
              <a:lnSpc>
                <a:spcPct val="100000"/>
              </a:lnSpc>
              <a:spcBef>
                <a:spcPts val="260"/>
              </a:spcBef>
            </a:pPr>
            <a:r>
              <a:rPr sz="2100" dirty="0">
                <a:latin typeface="Calibri"/>
                <a:cs typeface="Calibri"/>
              </a:rPr>
              <a:t>David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L.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Poole</a:t>
            </a:r>
            <a:endParaRPr sz="2100">
              <a:latin typeface="Calibri"/>
              <a:cs typeface="Calibri"/>
            </a:endParaRPr>
          </a:p>
          <a:p>
            <a:pPr marL="1731645">
              <a:lnSpc>
                <a:spcPct val="100000"/>
              </a:lnSpc>
              <a:spcBef>
                <a:spcPts val="250"/>
              </a:spcBef>
            </a:pPr>
            <a:r>
              <a:rPr sz="2100" dirty="0">
                <a:latin typeface="Calibri"/>
                <a:cs typeface="Calibri"/>
              </a:rPr>
              <a:t>Alan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K.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Mackworth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1400" y="1579880"/>
            <a:ext cx="2438400" cy="314452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5219" y="4328093"/>
            <a:ext cx="3806222" cy="56024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6E45F9-E61E-FFE6-3EF0-83CD382B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5</a:t>
            </a:fld>
            <a:endParaRPr lang="en-PK"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9075"/>
            <a:ext cx="5336540" cy="38290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68605" algn="l"/>
              </a:tabLst>
            </a:pPr>
            <a:r>
              <a:rPr sz="2700" b="1" spc="-5" dirty="0">
                <a:latin typeface="Calibri"/>
                <a:cs typeface="Calibri"/>
              </a:rPr>
              <a:t>Sel</a:t>
            </a:r>
            <a:r>
              <a:rPr sz="2700" b="1" spc="-10" dirty="0">
                <a:latin typeface="Calibri"/>
                <a:cs typeface="Calibri"/>
              </a:rPr>
              <a:t>f</a:t>
            </a:r>
            <a:r>
              <a:rPr sz="2700" b="1" dirty="0">
                <a:latin typeface="Calibri"/>
                <a:cs typeface="Calibri"/>
              </a:rPr>
              <a:t>-</a:t>
            </a:r>
            <a:r>
              <a:rPr sz="2700" b="1" spc="-25" dirty="0">
                <a:latin typeface="Calibri"/>
                <a:cs typeface="Calibri"/>
              </a:rPr>
              <a:t>drive</a:t>
            </a:r>
            <a:r>
              <a:rPr sz="2700" b="1" spc="20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Cars:</a:t>
            </a:r>
            <a:endParaRPr sz="2700" dirty="0">
              <a:latin typeface="Calibri"/>
              <a:cs typeface="Calibri"/>
            </a:endParaRPr>
          </a:p>
          <a:p>
            <a:pPr marL="524510" marR="5080" lvl="1" indent="-22923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2005,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driverless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robotic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named 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STANLEY</a:t>
            </a:r>
            <a:r>
              <a:rPr sz="2400" b="1" spc="-2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rough terrain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Mojave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dessert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22 </a:t>
            </a:r>
            <a:r>
              <a:rPr sz="2400" dirty="0">
                <a:latin typeface="Calibri"/>
                <a:cs typeface="Calibri"/>
              </a:rPr>
              <a:t>mph,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132-mile.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539E39"/>
              </a:buClr>
              <a:buFont typeface="Verdana"/>
              <a:buChar char="◦"/>
            </a:pP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539E39"/>
              </a:buClr>
              <a:buFont typeface="Verdana"/>
              <a:buChar char="◦"/>
            </a:pPr>
            <a:endParaRPr sz="2400" dirty="0">
              <a:latin typeface="Calibri"/>
              <a:cs typeface="Calibri"/>
            </a:endParaRPr>
          </a:p>
          <a:p>
            <a:pPr marL="524510" marR="1003300" lvl="1" indent="-229235" algn="just">
              <a:lnSpc>
                <a:spcPct val="100000"/>
              </a:lnSpc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dirty="0">
                <a:latin typeface="Calibri"/>
                <a:cs typeface="Calibri"/>
              </a:rPr>
              <a:t>Google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self-</a:t>
            </a:r>
            <a:r>
              <a:rPr sz="2400" dirty="0">
                <a:latin typeface="Calibri"/>
                <a:cs typeface="Calibri"/>
              </a:rPr>
              <a:t>driving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 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WAYMO</a:t>
            </a:r>
            <a:r>
              <a:rPr sz="2400" spc="-5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stands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new</a:t>
            </a:r>
            <a:r>
              <a:rPr sz="2400" i="1" spc="-80" dirty="0">
                <a:latin typeface="Calibri"/>
                <a:cs typeface="Calibri"/>
              </a:rPr>
              <a:t> </a:t>
            </a:r>
            <a:r>
              <a:rPr sz="2400" i="1" spc="-25" dirty="0">
                <a:latin typeface="Calibri"/>
                <a:cs typeface="Calibri"/>
              </a:rPr>
              <a:t>way </a:t>
            </a:r>
            <a:r>
              <a:rPr sz="2400" i="1" dirty="0">
                <a:latin typeface="Calibri"/>
                <a:cs typeface="Calibri"/>
              </a:rPr>
              <a:t>forward</a:t>
            </a:r>
            <a:r>
              <a:rPr sz="2400" i="1" spc="-7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in</a:t>
            </a:r>
            <a:r>
              <a:rPr sz="2400" i="1" spc="-65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mobility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62625" y="6556044"/>
            <a:ext cx="889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Dr.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Hashim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Yasin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85" y="664402"/>
            <a:ext cx="3256047" cy="4794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6848" y="4038600"/>
            <a:ext cx="2742310" cy="18288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88273" y="6672402"/>
            <a:ext cx="1536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25" dirty="0"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05016-4F58-A860-4615-58F79B1A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6</a:t>
            </a:fld>
            <a:endParaRPr lang="en-PK"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295400"/>
            <a:ext cx="6687566" cy="487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85" y="664402"/>
            <a:ext cx="3256047" cy="479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9075"/>
            <a:ext cx="7964932" cy="1619033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68605" algn="l"/>
              </a:tabLst>
            </a:pPr>
            <a:r>
              <a:rPr sz="2700" b="1" spc="-15" dirty="0">
                <a:latin typeface="Calibri"/>
                <a:cs typeface="Calibri"/>
              </a:rPr>
              <a:t>Speech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recognition:</a:t>
            </a:r>
            <a:endParaRPr sz="2700" dirty="0">
              <a:latin typeface="Calibri"/>
              <a:cs typeface="Calibri"/>
            </a:endParaRPr>
          </a:p>
          <a:p>
            <a:pPr marL="524510" marR="5080" lvl="1" indent="-22923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traveler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Airlines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book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entire conversation</a:t>
            </a:r>
            <a:r>
              <a:rPr sz="2400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guided</a:t>
            </a:r>
            <a:r>
              <a:rPr sz="2400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r>
              <a:rPr sz="2400" i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an</a:t>
            </a:r>
            <a:r>
              <a:rPr sz="2400" i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automated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speech</a:t>
            </a:r>
            <a:r>
              <a:rPr sz="2400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recognition</a:t>
            </a:r>
            <a:r>
              <a:rPr sz="2400" i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2400" i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dialog management</a:t>
            </a:r>
            <a:r>
              <a:rPr sz="2400" i="1" spc="-8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i="1" spc="-10" dirty="0">
                <a:solidFill>
                  <a:srgbClr val="006FC0"/>
                </a:solidFill>
                <a:latin typeface="Calibri"/>
                <a:cs typeface="Calibri"/>
              </a:rPr>
              <a:t>system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85" y="664402"/>
            <a:ext cx="3256047" cy="4794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8988" y="3512604"/>
            <a:ext cx="4575998" cy="26877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1231"/>
            <a:ext cx="8193532" cy="3094436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268605" algn="l"/>
              </a:tabLst>
            </a:pPr>
            <a:r>
              <a:rPr sz="2700" b="1" spc="-15" dirty="0">
                <a:latin typeface="Calibri"/>
                <a:cs typeface="Calibri"/>
              </a:rPr>
              <a:t>Autonomous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Planning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and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Scheduling:</a:t>
            </a:r>
            <a:endParaRPr sz="2700" dirty="0">
              <a:latin typeface="Calibri"/>
              <a:cs typeface="Calibri"/>
            </a:endParaRPr>
          </a:p>
          <a:p>
            <a:pPr marL="523240" marR="142240" lvl="1" indent="-227965">
              <a:lnSpc>
                <a:spcPct val="100000"/>
              </a:lnSpc>
              <a:spcBef>
                <a:spcPts val="33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200" spc="-45" dirty="0">
                <a:latin typeface="Calibri"/>
                <a:cs typeface="Calibri"/>
              </a:rPr>
              <a:t>NASA’s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Remote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Agent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became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on-</a:t>
            </a:r>
            <a:r>
              <a:rPr sz="2200" spc="-10" dirty="0">
                <a:latin typeface="Calibri"/>
                <a:cs typeface="Calibri"/>
              </a:rPr>
              <a:t>board 	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autonomous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planning</a:t>
            </a:r>
            <a:r>
              <a:rPr sz="22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program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control</a:t>
            </a:r>
            <a:r>
              <a:rPr sz="22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scheduling</a:t>
            </a:r>
            <a:r>
              <a:rPr sz="22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of 	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operations</a:t>
            </a:r>
            <a:r>
              <a:rPr sz="2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2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2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spacecraft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268605" algn="l"/>
              </a:tabLst>
            </a:pPr>
            <a:r>
              <a:rPr sz="2700" b="1" spc="-75" dirty="0">
                <a:latin typeface="Calibri"/>
                <a:cs typeface="Calibri"/>
              </a:rPr>
              <a:t>Text</a:t>
            </a:r>
            <a:r>
              <a:rPr sz="2700" b="1" dirty="0">
                <a:latin typeface="Calibri"/>
                <a:cs typeface="Calibri"/>
              </a:rPr>
              <a:t> Analysis </a:t>
            </a:r>
            <a:r>
              <a:rPr sz="2700" b="1" spc="-15" dirty="0">
                <a:latin typeface="Calibri"/>
                <a:cs typeface="Calibri"/>
              </a:rPr>
              <a:t>and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NLP</a:t>
            </a:r>
            <a:endParaRPr sz="2700" dirty="0">
              <a:latin typeface="Calibri"/>
              <a:cs typeface="Calibri"/>
            </a:endParaRPr>
          </a:p>
          <a:p>
            <a:pPr marL="523875" lvl="1" indent="-227965">
              <a:lnSpc>
                <a:spcPct val="100000"/>
              </a:lnSpc>
              <a:spcBef>
                <a:spcPts val="335"/>
              </a:spcBef>
              <a:buClr>
                <a:srgbClr val="539E39"/>
              </a:buClr>
              <a:buFont typeface="Verdana"/>
              <a:buChar char="◦"/>
              <a:tabLst>
                <a:tab pos="523875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computer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automatically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translates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Arabic</a:t>
            </a:r>
            <a:r>
              <a:rPr sz="22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endParaRPr sz="2200" dirty="0">
              <a:latin typeface="Calibri"/>
              <a:cs typeface="Calibri"/>
            </a:endParaRPr>
          </a:p>
          <a:p>
            <a:pPr marL="524510">
              <a:lnSpc>
                <a:spcPct val="100000"/>
              </a:lnSpc>
            </a:pP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English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524510" marR="5080" lvl="1" indent="-22923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analysis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text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execute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summary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text.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85" y="664402"/>
            <a:ext cx="3256047" cy="4794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7329" y="4648250"/>
            <a:ext cx="4405592" cy="16586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52117"/>
            <a:ext cx="6757034" cy="438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2700" b="1" spc="-10" dirty="0">
                <a:latin typeface="Calibri"/>
                <a:cs typeface="Calibri"/>
              </a:rPr>
              <a:t>Robotics</a:t>
            </a:r>
            <a:r>
              <a:rPr sz="2700" spc="-10" dirty="0">
                <a:latin typeface="Calibri"/>
                <a:cs typeface="Calibri"/>
              </a:rPr>
              <a:t>:</a:t>
            </a:r>
            <a:endParaRPr sz="2700" dirty="0">
              <a:latin typeface="Calibri"/>
              <a:cs typeface="Calibri"/>
            </a:endParaRPr>
          </a:p>
          <a:p>
            <a:pPr marL="524510" marR="166370" lvl="1" indent="-229235">
              <a:lnSpc>
                <a:spcPct val="90100"/>
              </a:lnSpc>
              <a:spcBef>
                <a:spcPts val="309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PackBot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hazardous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materials, </a:t>
            </a:r>
            <a:r>
              <a:rPr sz="2400" dirty="0">
                <a:latin typeface="Calibri"/>
                <a:cs typeface="Calibri"/>
              </a:rPr>
              <a:t>clear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explosives,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snipers.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40"/>
              </a:spcBef>
              <a:buFont typeface="Verdana"/>
              <a:buChar char="◦"/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68605" algn="l"/>
              </a:tabLst>
            </a:pPr>
            <a:r>
              <a:rPr sz="2700" b="1" spc="-20" dirty="0">
                <a:latin typeface="Calibri"/>
                <a:cs typeface="Calibri"/>
              </a:rPr>
              <a:t>Spam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Detection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5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spc="-10" dirty="0">
                <a:latin typeface="Calibri"/>
                <a:cs typeface="Calibri"/>
              </a:rPr>
              <a:t>Various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AI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anti-</a:t>
            </a:r>
            <a:r>
              <a:rPr sz="2300" dirty="0">
                <a:latin typeface="Calibri"/>
                <a:cs typeface="Calibri"/>
              </a:rPr>
              <a:t>spam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techniques</a:t>
            </a:r>
            <a:endParaRPr sz="2300" dirty="0">
              <a:latin typeface="Calibri"/>
              <a:cs typeface="Calibri"/>
            </a:endParaRPr>
          </a:p>
          <a:p>
            <a:pPr marL="524510" marR="5080" lvl="1" indent="-229235">
              <a:lnSpc>
                <a:spcPts val="2590"/>
              </a:lnSpc>
              <a:spcBef>
                <a:spcPts val="33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day,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billion </a:t>
            </a:r>
            <a:r>
              <a:rPr sz="2400" dirty="0">
                <a:latin typeface="Calibri"/>
                <a:cs typeface="Calibri"/>
              </a:rPr>
              <a:t>messages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spam,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saving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recipient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having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deleting</a:t>
            </a:r>
            <a:endParaRPr sz="2400" dirty="0">
              <a:latin typeface="Calibri"/>
              <a:cs typeface="Calibri"/>
            </a:endParaRPr>
          </a:p>
          <a:p>
            <a:pPr marL="524510" marR="123825" lvl="1" indent="-229235">
              <a:lnSpc>
                <a:spcPts val="2590"/>
              </a:lnSpc>
              <a:spcBef>
                <a:spcPts val="31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could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comprise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80%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90%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all </a:t>
            </a:r>
            <a:r>
              <a:rPr sz="2400" dirty="0">
                <a:latin typeface="Calibri"/>
                <a:cs typeface="Calibri"/>
              </a:rPr>
              <a:t>messages,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classified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away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85" y="664402"/>
            <a:ext cx="3256047" cy="4794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7168" y="1417574"/>
            <a:ext cx="1259420" cy="33178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2388222"/>
            <a:ext cx="4339510" cy="381910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1447236"/>
            <a:ext cx="4695190" cy="8737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268605" algn="l"/>
              </a:tabLst>
            </a:pPr>
            <a:r>
              <a:rPr sz="2700" b="1" spc="-15" dirty="0">
                <a:latin typeface="Calibri"/>
                <a:cs typeface="Calibri"/>
              </a:rPr>
              <a:t>Computer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Vision</a:t>
            </a:r>
            <a:endParaRPr sz="2700" dirty="0">
              <a:latin typeface="Calibri"/>
              <a:cs typeface="Calibri"/>
            </a:endParaRPr>
          </a:p>
          <a:p>
            <a:pPr marL="2444115">
              <a:lnSpc>
                <a:spcPct val="100000"/>
              </a:lnSpc>
              <a:spcBef>
                <a:spcPts val="315"/>
              </a:spcBef>
            </a:pPr>
            <a:r>
              <a:rPr sz="2300" dirty="0">
                <a:latin typeface="Calibri"/>
                <a:cs typeface="Calibri"/>
              </a:rPr>
              <a:t>Action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Recognition</a:t>
            </a:r>
            <a:endParaRPr sz="23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85" y="664402"/>
            <a:ext cx="3256047" cy="4794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90800"/>
            <a:ext cx="8623300" cy="4267200"/>
            <a:chOff x="0" y="2590800"/>
            <a:chExt cx="8623300" cy="4267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2591239"/>
              <a:ext cx="3954338" cy="320820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2590800"/>
              <a:ext cx="4050877" cy="312384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45668" y="1447236"/>
            <a:ext cx="4570095" cy="8737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268605" algn="l"/>
              </a:tabLst>
            </a:pPr>
            <a:r>
              <a:rPr sz="2700" b="1" spc="-15" dirty="0">
                <a:latin typeface="Calibri"/>
                <a:cs typeface="Calibri"/>
              </a:rPr>
              <a:t>Computer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Vision</a:t>
            </a:r>
            <a:endParaRPr sz="2700" dirty="0">
              <a:latin typeface="Calibri"/>
              <a:cs typeface="Calibri"/>
            </a:endParaRPr>
          </a:p>
          <a:p>
            <a:pPr marL="2568575">
              <a:lnSpc>
                <a:spcPct val="100000"/>
              </a:lnSpc>
              <a:spcBef>
                <a:spcPts val="315"/>
              </a:spcBef>
            </a:pPr>
            <a:r>
              <a:rPr sz="2300" dirty="0">
                <a:latin typeface="Calibri"/>
                <a:cs typeface="Calibri"/>
              </a:rPr>
              <a:t>Object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detection</a:t>
            </a:r>
            <a:endParaRPr sz="23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485" y="664402"/>
            <a:ext cx="3256047" cy="47945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381" y="4325082"/>
            <a:ext cx="7538478" cy="56320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5AE5A4-9BAC-B521-E46C-56E6FAC0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13</a:t>
            </a:fld>
            <a:endParaRPr lang="en-PK" spc="-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93265"/>
            <a:ext cx="7891145" cy="3932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64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latin typeface="Calibri"/>
                <a:cs typeface="Calibri"/>
              </a:rPr>
              <a:t>“The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ability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learn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7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understand</a:t>
            </a:r>
            <a:r>
              <a:rPr sz="2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things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deal</a:t>
            </a:r>
            <a:endParaRPr sz="27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2700" dirty="0">
                <a:latin typeface="Calibri"/>
                <a:cs typeface="Calibri"/>
              </a:rPr>
              <a:t>with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new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or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difficult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situations.”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(Merriam</a:t>
            </a:r>
            <a:r>
              <a:rPr sz="2700" b="1" spc="-2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Webster</a:t>
            </a:r>
            <a:r>
              <a:rPr sz="2700" spc="-10" dirty="0">
                <a:latin typeface="Calibri"/>
                <a:cs typeface="Calibri"/>
              </a:rPr>
              <a:t>)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700">
              <a:latin typeface="Calibri"/>
              <a:cs typeface="Calibri"/>
            </a:endParaRPr>
          </a:p>
          <a:p>
            <a:pPr marL="268605" marR="5080" indent="-256540">
              <a:lnSpc>
                <a:spcPct val="100000"/>
              </a:lnSpc>
              <a:spcBef>
                <a:spcPts val="5"/>
              </a:spcBef>
            </a:pPr>
            <a:r>
              <a:rPr sz="2700" dirty="0">
                <a:latin typeface="Calibri"/>
                <a:cs typeface="Calibri"/>
              </a:rPr>
              <a:t>“The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ability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learn,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understand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make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judgments</a:t>
            </a:r>
            <a:r>
              <a:rPr sz="27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or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have</a:t>
            </a:r>
            <a:r>
              <a:rPr sz="27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opinions</a:t>
            </a:r>
            <a:r>
              <a:rPr sz="27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based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reason.”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(Cambridge </a:t>
            </a:r>
            <a:r>
              <a:rPr sz="2700" b="1" dirty="0">
                <a:latin typeface="Calibri"/>
                <a:cs typeface="Calibri"/>
              </a:rPr>
              <a:t>Advance</a:t>
            </a:r>
            <a:r>
              <a:rPr sz="2700" b="1" spc="-10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Learner’s</a:t>
            </a:r>
            <a:r>
              <a:rPr sz="2700" b="1" spc="-9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Dictionary,</a:t>
            </a:r>
            <a:r>
              <a:rPr sz="2700" b="1" spc="-114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2006)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700" dirty="0">
                <a:latin typeface="Calibri"/>
                <a:cs typeface="Calibri"/>
              </a:rPr>
              <a:t>“The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ability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acquire</a:t>
            </a:r>
            <a:r>
              <a:rPr sz="2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apply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2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skills.”</a:t>
            </a:r>
            <a:endParaRPr sz="2700">
              <a:latin typeface="Calibri"/>
              <a:cs typeface="Calibri"/>
            </a:endParaRPr>
          </a:p>
          <a:p>
            <a:pPr marL="268605">
              <a:lnSpc>
                <a:spcPct val="100000"/>
              </a:lnSpc>
            </a:pPr>
            <a:r>
              <a:rPr sz="2700" b="1" dirty="0">
                <a:latin typeface="Calibri"/>
                <a:cs typeface="Calibri"/>
              </a:rPr>
              <a:t>(Compact</a:t>
            </a:r>
            <a:r>
              <a:rPr sz="2700" b="1" spc="-8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Oxford</a:t>
            </a:r>
            <a:r>
              <a:rPr sz="2700" b="1" spc="-85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Dictionary,</a:t>
            </a:r>
            <a:r>
              <a:rPr sz="2700" b="1" spc="-8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2006)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58" y="664402"/>
            <a:ext cx="5147328" cy="479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3589426"/>
            <a:ext cx="6904355" cy="26650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1345776"/>
            <a:ext cx="7148830" cy="228203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2700" dirty="0">
                <a:latin typeface="Calibri"/>
                <a:cs typeface="Calibri"/>
              </a:rPr>
              <a:t>AI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c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 </a:t>
            </a:r>
            <a:r>
              <a:rPr sz="2700" spc="-10" dirty="0">
                <a:latin typeface="Calibri"/>
                <a:cs typeface="Calibri"/>
              </a:rPr>
              <a:t>defined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wit</a:t>
            </a:r>
            <a:r>
              <a:rPr sz="2700" dirty="0">
                <a:latin typeface="Calibri"/>
                <a:cs typeface="Calibri"/>
              </a:rPr>
              <a:t>h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four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different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pe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dirty="0">
                <a:latin typeface="Calibri"/>
                <a:cs typeface="Calibri"/>
              </a:rPr>
              <a:t>specti</a:t>
            </a:r>
            <a:r>
              <a:rPr sz="2700" spc="-15" dirty="0">
                <a:latin typeface="Calibri"/>
                <a:cs typeface="Calibri"/>
              </a:rPr>
              <a:t>v</a:t>
            </a:r>
            <a:r>
              <a:rPr sz="2700" spc="-5" dirty="0">
                <a:latin typeface="Calibri"/>
                <a:cs typeface="Calibri"/>
              </a:rPr>
              <a:t>es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spc="-10" dirty="0">
                <a:latin typeface="Calibri"/>
                <a:cs typeface="Calibri"/>
              </a:rPr>
              <a:t>Systems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think</a:t>
            </a:r>
            <a:r>
              <a:rPr sz="27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like</a:t>
            </a:r>
            <a:r>
              <a:rPr sz="27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humans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spc="-10" dirty="0">
                <a:latin typeface="Calibri"/>
                <a:cs typeface="Calibri"/>
              </a:rPr>
              <a:t>Systems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act</a:t>
            </a:r>
            <a:r>
              <a:rPr sz="27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like</a:t>
            </a:r>
            <a:r>
              <a:rPr sz="27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humans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spc="-10" dirty="0">
                <a:latin typeface="Calibri"/>
                <a:cs typeface="Calibri"/>
              </a:rPr>
              <a:t>Systems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think</a:t>
            </a:r>
            <a:r>
              <a:rPr sz="27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rationally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spc="-10" dirty="0">
                <a:latin typeface="Calibri"/>
                <a:cs typeface="Calibri"/>
              </a:rPr>
              <a:t>Systems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act</a:t>
            </a:r>
            <a:r>
              <a:rPr sz="27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rationally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62" y="661328"/>
            <a:ext cx="6447292" cy="4825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2592"/>
            <a:ext cx="7708900" cy="39833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Systems</a:t>
            </a:r>
            <a:r>
              <a:rPr sz="2700" b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700" b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think</a:t>
            </a:r>
            <a:r>
              <a:rPr sz="27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</a:t>
            </a:r>
            <a:r>
              <a:rPr sz="27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humans</a:t>
            </a:r>
            <a:endParaRPr sz="2700">
              <a:latin typeface="Calibri"/>
              <a:cs typeface="Calibri"/>
            </a:endParaRPr>
          </a:p>
          <a:p>
            <a:pPr marL="268605" marR="163830" indent="-100965">
              <a:lnSpc>
                <a:spcPct val="100000"/>
              </a:lnSpc>
              <a:spcBef>
                <a:spcPts val="395"/>
              </a:spcBef>
            </a:pPr>
            <a:r>
              <a:rPr sz="2700" dirty="0">
                <a:latin typeface="Calibri"/>
                <a:cs typeface="Calibri"/>
              </a:rPr>
              <a:t>"The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exciting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new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effort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make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computers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think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.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.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.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machines</a:t>
            </a:r>
            <a:r>
              <a:rPr sz="27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7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minds</a:t>
            </a:r>
            <a:r>
              <a:rPr sz="2700" i="1" dirty="0">
                <a:latin typeface="Calibri"/>
                <a:cs typeface="Calibri"/>
              </a:rPr>
              <a:t>,</a:t>
            </a:r>
            <a:r>
              <a:rPr sz="2700" i="1" spc="-5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in</a:t>
            </a:r>
            <a:r>
              <a:rPr sz="2700" i="1" spc="-6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the</a:t>
            </a:r>
            <a:r>
              <a:rPr sz="2700" i="1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full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literal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sense." </a:t>
            </a:r>
            <a:r>
              <a:rPr sz="2700" dirty="0">
                <a:latin typeface="Calibri"/>
                <a:cs typeface="Calibri"/>
              </a:rPr>
              <a:t>(Haugeland,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1985)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7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Systems</a:t>
            </a:r>
            <a:r>
              <a:rPr sz="27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7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</a:t>
            </a:r>
            <a:r>
              <a:rPr sz="27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</a:t>
            </a:r>
            <a:r>
              <a:rPr sz="2700"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humans</a:t>
            </a:r>
            <a:endParaRPr sz="2700">
              <a:latin typeface="Calibri"/>
              <a:cs typeface="Calibri"/>
            </a:endParaRPr>
          </a:p>
          <a:p>
            <a:pPr marL="268605" marR="5080" indent="-100965" algn="just">
              <a:lnSpc>
                <a:spcPct val="100000"/>
              </a:lnSpc>
              <a:spcBef>
                <a:spcPts val="400"/>
              </a:spcBef>
            </a:pPr>
            <a:r>
              <a:rPr sz="2700" dirty="0">
                <a:latin typeface="Calibri"/>
                <a:cs typeface="Calibri"/>
              </a:rPr>
              <a:t>“The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art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creating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machines</a:t>
            </a:r>
            <a:r>
              <a:rPr sz="27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7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perform</a:t>
            </a:r>
            <a:r>
              <a:rPr sz="27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functions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7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require</a:t>
            </a:r>
            <a:r>
              <a:rPr sz="27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intelligence</a:t>
            </a:r>
            <a:r>
              <a:rPr sz="27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when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performed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by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people” (Kurzweil,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1990).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2" y="661328"/>
            <a:ext cx="6447292" cy="4825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42592"/>
            <a:ext cx="7646034" cy="31597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Systems</a:t>
            </a:r>
            <a:r>
              <a:rPr sz="27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7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think</a:t>
            </a:r>
            <a:r>
              <a:rPr sz="27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rationally</a:t>
            </a:r>
            <a:endParaRPr sz="2700">
              <a:latin typeface="Calibri"/>
              <a:cs typeface="Calibri"/>
            </a:endParaRPr>
          </a:p>
          <a:p>
            <a:pPr marL="268605" marR="5080" indent="-100965">
              <a:lnSpc>
                <a:spcPct val="100000"/>
              </a:lnSpc>
              <a:spcBef>
                <a:spcPts val="395"/>
              </a:spcBef>
            </a:pPr>
            <a:r>
              <a:rPr sz="2700" dirty="0">
                <a:latin typeface="Calibri"/>
                <a:cs typeface="Calibri"/>
              </a:rPr>
              <a:t>“The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study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7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computations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make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possible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perceive,</a:t>
            </a:r>
            <a:r>
              <a:rPr sz="27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reason,</a:t>
            </a:r>
            <a:r>
              <a:rPr sz="27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700" b="1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25" dirty="0">
                <a:solidFill>
                  <a:srgbClr val="FF0000"/>
                </a:solidFill>
                <a:latin typeface="Calibri"/>
                <a:cs typeface="Calibri"/>
              </a:rPr>
              <a:t>act</a:t>
            </a:r>
            <a:r>
              <a:rPr sz="2700" spc="-25" dirty="0">
                <a:latin typeface="Calibri"/>
                <a:cs typeface="Calibri"/>
              </a:rPr>
              <a:t>.”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(Winston,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1992)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2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Systems</a:t>
            </a:r>
            <a:r>
              <a:rPr sz="27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7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</a:t>
            </a:r>
            <a:r>
              <a:rPr sz="27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rationally</a:t>
            </a:r>
            <a:endParaRPr sz="2700">
              <a:latin typeface="Calibri"/>
              <a:cs typeface="Calibri"/>
            </a:endParaRPr>
          </a:p>
          <a:p>
            <a:pPr marL="268605" marR="10160" indent="-100965">
              <a:lnSpc>
                <a:spcPct val="100000"/>
              </a:lnSpc>
              <a:spcBef>
                <a:spcPts val="400"/>
              </a:spcBef>
            </a:pPr>
            <a:r>
              <a:rPr sz="2700" dirty="0">
                <a:latin typeface="Calibri"/>
                <a:cs typeface="Calibri"/>
              </a:rPr>
              <a:t>"Computational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Intelligence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study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design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7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intelligent</a:t>
            </a:r>
            <a:r>
              <a:rPr sz="27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agents</a:t>
            </a:r>
            <a:r>
              <a:rPr sz="2700" dirty="0">
                <a:latin typeface="Calibri"/>
                <a:cs typeface="Calibri"/>
              </a:rPr>
              <a:t>."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(Poole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et</a:t>
            </a:r>
            <a:r>
              <a:rPr sz="2700" i="1" spc="-65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al.,</a:t>
            </a:r>
            <a:r>
              <a:rPr sz="2700" i="1" spc="-60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1998)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062" y="661328"/>
            <a:ext cx="6447292" cy="4825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71600"/>
            <a:ext cx="7347711" cy="28214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4172497"/>
            <a:ext cx="7660132" cy="126188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68605" algn="l"/>
              </a:tabLst>
            </a:pPr>
            <a:r>
              <a:rPr sz="2700" spc="-5" dirty="0">
                <a:latin typeface="Calibri"/>
                <a:cs typeface="Calibri"/>
              </a:rPr>
              <a:t>T</a:t>
            </a:r>
            <a:r>
              <a:rPr sz="2700" dirty="0">
                <a:latin typeface="Calibri"/>
                <a:cs typeface="Calibri"/>
              </a:rPr>
              <a:t>hese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definitions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---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two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main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dimensions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2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i="1" dirty="0">
                <a:latin typeface="Calibri"/>
                <a:cs typeface="Calibri"/>
              </a:rPr>
              <a:t>thought</a:t>
            </a:r>
            <a:r>
              <a:rPr sz="2300" i="1" spc="-8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processes</a:t>
            </a:r>
            <a:r>
              <a:rPr sz="2300" i="1" spc="-110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and</a:t>
            </a:r>
            <a:r>
              <a:rPr sz="2300" i="1" spc="-80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reasoning,</a:t>
            </a:r>
            <a:endParaRPr sz="23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i="1" spc="-10" dirty="0">
                <a:latin typeface="Calibri"/>
                <a:cs typeface="Calibri"/>
              </a:rPr>
              <a:t>behaviour.</a:t>
            </a:r>
            <a:endParaRPr sz="23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62" y="661328"/>
            <a:ext cx="6447292" cy="4825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23912" y="1357249"/>
            <a:ext cx="7496175" cy="2894965"/>
            <a:chOff x="823912" y="1357249"/>
            <a:chExt cx="7496175" cy="2894965"/>
          </a:xfrm>
        </p:grpSpPr>
        <p:sp>
          <p:nvSpPr>
            <p:cNvPr id="6" name="object 6"/>
            <p:cNvSpPr/>
            <p:nvPr/>
          </p:nvSpPr>
          <p:spPr>
            <a:xfrm>
              <a:off x="823912" y="1357249"/>
              <a:ext cx="7496175" cy="1476375"/>
            </a:xfrm>
            <a:custGeom>
              <a:avLst/>
              <a:gdLst/>
              <a:ahLst/>
              <a:cxnLst/>
              <a:rect l="l" t="t" r="r" b="b"/>
              <a:pathLst>
                <a:path w="7496175" h="1476375">
                  <a:moveTo>
                    <a:pt x="7489761" y="0"/>
                  </a:moveTo>
                  <a:lnTo>
                    <a:pt x="6400" y="0"/>
                  </a:lnTo>
                  <a:lnTo>
                    <a:pt x="0" y="6476"/>
                  </a:lnTo>
                  <a:lnTo>
                    <a:pt x="0" y="1470025"/>
                  </a:lnTo>
                  <a:lnTo>
                    <a:pt x="6400" y="1476375"/>
                  </a:lnTo>
                  <a:lnTo>
                    <a:pt x="7489761" y="1476375"/>
                  </a:lnTo>
                  <a:lnTo>
                    <a:pt x="7496111" y="1470025"/>
                  </a:lnTo>
                  <a:lnTo>
                    <a:pt x="7496111" y="1459229"/>
                  </a:lnTo>
                  <a:lnTo>
                    <a:pt x="17144" y="1459229"/>
                  </a:lnTo>
                  <a:lnTo>
                    <a:pt x="17144" y="17145"/>
                  </a:lnTo>
                  <a:lnTo>
                    <a:pt x="7496111" y="17145"/>
                  </a:lnTo>
                  <a:lnTo>
                    <a:pt x="7496111" y="6476"/>
                  </a:lnTo>
                  <a:lnTo>
                    <a:pt x="7489761" y="0"/>
                  </a:lnTo>
                  <a:close/>
                </a:path>
                <a:path w="7496175" h="1476375">
                  <a:moveTo>
                    <a:pt x="7496111" y="17145"/>
                  </a:moveTo>
                  <a:lnTo>
                    <a:pt x="7478966" y="17145"/>
                  </a:lnTo>
                  <a:lnTo>
                    <a:pt x="7478966" y="1459229"/>
                  </a:lnTo>
                  <a:lnTo>
                    <a:pt x="7496111" y="1459229"/>
                  </a:lnTo>
                  <a:lnTo>
                    <a:pt x="7496111" y="17145"/>
                  </a:lnTo>
                  <a:close/>
                </a:path>
                <a:path w="7496175" h="1476375">
                  <a:moveTo>
                    <a:pt x="7473251" y="22860"/>
                  </a:moveTo>
                  <a:lnTo>
                    <a:pt x="22859" y="22860"/>
                  </a:lnTo>
                  <a:lnTo>
                    <a:pt x="22859" y="1453514"/>
                  </a:lnTo>
                  <a:lnTo>
                    <a:pt x="7473251" y="1453514"/>
                  </a:lnTo>
                  <a:lnTo>
                    <a:pt x="7473251" y="1447800"/>
                  </a:lnTo>
                  <a:lnTo>
                    <a:pt x="28575" y="1447800"/>
                  </a:lnTo>
                  <a:lnTo>
                    <a:pt x="28575" y="28575"/>
                  </a:lnTo>
                  <a:lnTo>
                    <a:pt x="7473251" y="28575"/>
                  </a:lnTo>
                  <a:lnTo>
                    <a:pt x="7473251" y="22860"/>
                  </a:lnTo>
                  <a:close/>
                </a:path>
                <a:path w="7496175" h="1476375">
                  <a:moveTo>
                    <a:pt x="7473251" y="28575"/>
                  </a:moveTo>
                  <a:lnTo>
                    <a:pt x="7467536" y="28575"/>
                  </a:lnTo>
                  <a:lnTo>
                    <a:pt x="7467536" y="1447800"/>
                  </a:lnTo>
                  <a:lnTo>
                    <a:pt x="7473251" y="1447800"/>
                  </a:lnTo>
                  <a:lnTo>
                    <a:pt x="7473251" y="285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3912" y="2775458"/>
              <a:ext cx="7496175" cy="1476375"/>
            </a:xfrm>
            <a:custGeom>
              <a:avLst/>
              <a:gdLst/>
              <a:ahLst/>
              <a:cxnLst/>
              <a:rect l="l" t="t" r="r" b="b"/>
              <a:pathLst>
                <a:path w="7496175" h="1476375">
                  <a:moveTo>
                    <a:pt x="7489761" y="0"/>
                  </a:moveTo>
                  <a:lnTo>
                    <a:pt x="6400" y="0"/>
                  </a:lnTo>
                  <a:lnTo>
                    <a:pt x="0" y="6350"/>
                  </a:lnTo>
                  <a:lnTo>
                    <a:pt x="0" y="1469897"/>
                  </a:lnTo>
                  <a:lnTo>
                    <a:pt x="6400" y="1476374"/>
                  </a:lnTo>
                  <a:lnTo>
                    <a:pt x="7489761" y="1476374"/>
                  </a:lnTo>
                  <a:lnTo>
                    <a:pt x="7496111" y="1469897"/>
                  </a:lnTo>
                  <a:lnTo>
                    <a:pt x="7496111" y="1459229"/>
                  </a:lnTo>
                  <a:lnTo>
                    <a:pt x="17144" y="1459229"/>
                  </a:lnTo>
                  <a:lnTo>
                    <a:pt x="17144" y="17144"/>
                  </a:lnTo>
                  <a:lnTo>
                    <a:pt x="7496111" y="17144"/>
                  </a:lnTo>
                  <a:lnTo>
                    <a:pt x="7496111" y="6350"/>
                  </a:lnTo>
                  <a:lnTo>
                    <a:pt x="7489761" y="0"/>
                  </a:lnTo>
                  <a:close/>
                </a:path>
                <a:path w="7496175" h="1476375">
                  <a:moveTo>
                    <a:pt x="7496111" y="17144"/>
                  </a:moveTo>
                  <a:lnTo>
                    <a:pt x="7478966" y="17144"/>
                  </a:lnTo>
                  <a:lnTo>
                    <a:pt x="7478966" y="1459229"/>
                  </a:lnTo>
                  <a:lnTo>
                    <a:pt x="7496111" y="1459229"/>
                  </a:lnTo>
                  <a:lnTo>
                    <a:pt x="7496111" y="17144"/>
                  </a:lnTo>
                  <a:close/>
                </a:path>
                <a:path w="7496175" h="1476375">
                  <a:moveTo>
                    <a:pt x="7473251" y="22859"/>
                  </a:moveTo>
                  <a:lnTo>
                    <a:pt x="22859" y="22859"/>
                  </a:lnTo>
                  <a:lnTo>
                    <a:pt x="22859" y="1453514"/>
                  </a:lnTo>
                  <a:lnTo>
                    <a:pt x="7473251" y="1453514"/>
                  </a:lnTo>
                  <a:lnTo>
                    <a:pt x="7473251" y="1447799"/>
                  </a:lnTo>
                  <a:lnTo>
                    <a:pt x="28575" y="1447799"/>
                  </a:lnTo>
                  <a:lnTo>
                    <a:pt x="28575" y="28575"/>
                  </a:lnTo>
                  <a:lnTo>
                    <a:pt x="7473251" y="28575"/>
                  </a:lnTo>
                  <a:lnTo>
                    <a:pt x="7473251" y="22859"/>
                  </a:lnTo>
                  <a:close/>
                </a:path>
                <a:path w="7496175" h="1476375">
                  <a:moveTo>
                    <a:pt x="7473251" y="28575"/>
                  </a:moveTo>
                  <a:lnTo>
                    <a:pt x="7467536" y="28575"/>
                  </a:lnTo>
                  <a:lnTo>
                    <a:pt x="7467536" y="1447799"/>
                  </a:lnTo>
                  <a:lnTo>
                    <a:pt x="7473251" y="1447799"/>
                  </a:lnTo>
                  <a:lnTo>
                    <a:pt x="7473251" y="28575"/>
                  </a:lnTo>
                  <a:close/>
                </a:path>
              </a:pathLst>
            </a:custGeom>
            <a:solidFill>
              <a:srgbClr val="2BFBC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1794713"/>
            <a:ext cx="3383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dirty="0">
                <a:solidFill>
                  <a:srgbClr val="FF0000"/>
                </a:solidFill>
              </a:rPr>
              <a:t>"Can</a:t>
            </a:r>
            <a:r>
              <a:rPr u="none" spc="-45" dirty="0">
                <a:solidFill>
                  <a:srgbClr val="FF0000"/>
                </a:solidFill>
              </a:rPr>
              <a:t> </a:t>
            </a:r>
            <a:r>
              <a:rPr u="none" dirty="0">
                <a:solidFill>
                  <a:srgbClr val="FF0000"/>
                </a:solidFill>
              </a:rPr>
              <a:t>machines</a:t>
            </a:r>
            <a:r>
              <a:rPr u="none" spc="-55" dirty="0">
                <a:solidFill>
                  <a:srgbClr val="FF0000"/>
                </a:solidFill>
              </a:rPr>
              <a:t> </a:t>
            </a:r>
            <a:r>
              <a:rPr u="none" spc="-10" dirty="0">
                <a:solidFill>
                  <a:srgbClr val="FF0000"/>
                </a:solidFill>
              </a:rPr>
              <a:t>think?"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2580258"/>
            <a:ext cx="7551420" cy="2458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"Can</a:t>
            </a:r>
            <a:r>
              <a:rPr sz="2800" b="1" spc="-10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machines</a:t>
            </a:r>
            <a:r>
              <a:rPr sz="2800" b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00AF50"/>
                </a:solidFill>
                <a:latin typeface="Calibri"/>
                <a:cs typeface="Calibri"/>
              </a:rPr>
              <a:t>behave</a:t>
            </a:r>
            <a:r>
              <a:rPr sz="2800" b="1" spc="-10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Calibri"/>
                <a:cs typeface="Calibri"/>
              </a:rPr>
              <a:t>intelligently?"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ts val="3115"/>
              </a:lnSpc>
              <a:spcBef>
                <a:spcPts val="2750"/>
              </a:spcBef>
            </a:pP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Turing</a:t>
            </a:r>
            <a:r>
              <a:rPr sz="2700" b="1" u="sng" spc="-1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Test</a:t>
            </a:r>
            <a:r>
              <a:rPr sz="2700"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(1950)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ts val="3115"/>
              </a:lnSpc>
              <a:tabLst>
                <a:tab pos="268605" algn="l"/>
              </a:tabLst>
            </a:pPr>
            <a:r>
              <a:rPr sz="2700" dirty="0">
                <a:latin typeface="Calibri"/>
                <a:cs typeface="Calibri"/>
              </a:rPr>
              <a:t>p</a:t>
            </a:r>
            <a:r>
              <a:rPr sz="2700" spc="-55" dirty="0">
                <a:latin typeface="Calibri"/>
                <a:cs typeface="Calibri"/>
              </a:rPr>
              <a:t>r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dirty="0">
                <a:latin typeface="Calibri"/>
                <a:cs typeface="Calibri"/>
              </a:rPr>
              <a:t>p</a:t>
            </a:r>
            <a:r>
              <a:rPr sz="2700" spc="-5" dirty="0">
                <a:latin typeface="Calibri"/>
                <a:cs typeface="Calibri"/>
              </a:rPr>
              <a:t>o</a:t>
            </a:r>
            <a:r>
              <a:rPr sz="2700" spc="5" dirty="0">
                <a:latin typeface="Calibri"/>
                <a:cs typeface="Calibri"/>
              </a:rPr>
              <a:t>s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by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Alan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spc="-35" dirty="0">
                <a:latin typeface="Calibri"/>
                <a:cs typeface="Calibri"/>
              </a:rPr>
              <a:t>Turing</a:t>
            </a:r>
            <a:endParaRPr sz="2700" dirty="0">
              <a:latin typeface="Calibri"/>
              <a:cs typeface="Calibri"/>
            </a:endParaRPr>
          </a:p>
          <a:p>
            <a:pPr marL="268605" marR="5080" indent="-256540">
              <a:lnSpc>
                <a:spcPct val="100000"/>
              </a:lnSpc>
              <a:spcBef>
                <a:spcPts val="34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Calibri"/>
                <a:cs typeface="Calibri"/>
              </a:rPr>
              <a:t>An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attempt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provide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satisfactory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operational</a:t>
            </a:r>
            <a:r>
              <a:rPr sz="27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365" dirty="0">
                <a:solidFill>
                  <a:srgbClr val="FF0000"/>
                </a:solidFill>
                <a:latin typeface="Calibri"/>
                <a:cs typeface="Calibri"/>
              </a:rPr>
              <a:t>test</a:t>
            </a:r>
            <a:r>
              <a:rPr sz="2700" spc="675" dirty="0">
                <a:solidFill>
                  <a:srgbClr val="FF0000"/>
                </a:solidFill>
                <a:latin typeface="Calibri"/>
                <a:cs typeface="Calibri"/>
              </a:rPr>
              <a:t>  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sz="27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intelligent</a:t>
            </a:r>
            <a:r>
              <a:rPr sz="27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behavior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86" y="664402"/>
            <a:ext cx="5366784" cy="4794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983" y="1863255"/>
            <a:ext cx="3418916" cy="37556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1491742"/>
            <a:ext cx="5354320" cy="3717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25"/>
              </a:lnSpc>
              <a:spcBef>
                <a:spcPts val="95"/>
              </a:spcBef>
              <a:tabLst>
                <a:tab pos="268605" algn="l"/>
              </a:tabLst>
            </a:pPr>
            <a:r>
              <a:rPr sz="2800" b="1" spc="-40" dirty="0">
                <a:latin typeface="Calibri"/>
                <a:cs typeface="Calibri"/>
              </a:rPr>
              <a:t>Turing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80" dirty="0">
                <a:latin typeface="Calibri"/>
                <a:cs typeface="Calibri"/>
              </a:rPr>
              <a:t>Test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--</a:t>
            </a:r>
            <a:r>
              <a:rPr sz="2800" b="1" spc="-10" dirty="0">
                <a:latin typeface="Calibri"/>
                <a:cs typeface="Calibri"/>
              </a:rPr>
              <a:t>-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FF0000"/>
                </a:solidFill>
                <a:latin typeface="Calibri"/>
                <a:cs typeface="Calibri"/>
              </a:rPr>
              <a:t>Imitation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Game</a:t>
            </a:r>
            <a:endParaRPr sz="2800" dirty="0">
              <a:latin typeface="Calibri"/>
              <a:cs typeface="Calibri"/>
            </a:endParaRPr>
          </a:p>
          <a:p>
            <a:pPr marL="524510" marR="5080" lvl="1" indent="-229235">
              <a:lnSpc>
                <a:spcPct val="80500"/>
              </a:lnSpc>
              <a:spcBef>
                <a:spcPts val="49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(Human)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judge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communicates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text-only </a:t>
            </a:r>
            <a:r>
              <a:rPr sz="2400" spc="-10" dirty="0">
                <a:latin typeface="Calibri"/>
                <a:cs typeface="Calibri"/>
              </a:rPr>
              <a:t>channel,</a:t>
            </a:r>
            <a:endParaRPr sz="2400" dirty="0">
              <a:latin typeface="Calibri"/>
              <a:cs typeface="Calibri"/>
            </a:endParaRPr>
          </a:p>
          <a:p>
            <a:pPr marL="524510" marR="443865" lvl="1" indent="-229235">
              <a:lnSpc>
                <a:spcPct val="100000"/>
              </a:lnSpc>
              <a:spcBef>
                <a:spcPts val="24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dirty="0">
                <a:latin typeface="Calibri"/>
                <a:cs typeface="Calibri"/>
              </a:rPr>
              <a:t>Both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machine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act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human,</a:t>
            </a:r>
            <a:endParaRPr sz="2400" dirty="0">
              <a:latin typeface="Calibri"/>
              <a:cs typeface="Calibri"/>
            </a:endParaRPr>
          </a:p>
          <a:p>
            <a:pPr marL="525145" lvl="1" indent="-22923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5145" algn="l"/>
              </a:tabLst>
            </a:pPr>
            <a:r>
              <a:rPr sz="2400" dirty="0">
                <a:latin typeface="Calibri"/>
                <a:cs typeface="Calibri"/>
              </a:rPr>
              <a:t>Judge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which.</a:t>
            </a:r>
            <a:endParaRPr sz="2400" dirty="0">
              <a:latin typeface="Calibri"/>
              <a:cs typeface="Calibri"/>
            </a:endParaRPr>
          </a:p>
          <a:p>
            <a:pPr marL="524510" marR="241300" lvl="1" indent="-22923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spc="-10" dirty="0">
                <a:latin typeface="Calibri"/>
                <a:cs typeface="Calibri"/>
              </a:rPr>
              <a:t>Predicted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2000,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machine </a:t>
            </a:r>
            <a:r>
              <a:rPr sz="2400" dirty="0">
                <a:latin typeface="Calibri"/>
                <a:cs typeface="Calibri"/>
              </a:rPr>
              <a:t>might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30%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fooling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lay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person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minutes.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86" y="664402"/>
            <a:ext cx="5366784" cy="4794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983" y="1863255"/>
            <a:ext cx="3418916" cy="37556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1491742"/>
            <a:ext cx="5082540" cy="405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8605" algn="l"/>
              </a:tabLst>
            </a:pPr>
            <a:r>
              <a:rPr sz="2800" b="1" spc="-40" dirty="0">
                <a:latin typeface="Calibri"/>
                <a:cs typeface="Calibri"/>
              </a:rPr>
              <a:t>Turing</a:t>
            </a:r>
            <a:r>
              <a:rPr sz="2800" b="1" spc="20" dirty="0">
                <a:latin typeface="Calibri"/>
                <a:cs typeface="Calibri"/>
              </a:rPr>
              <a:t> </a:t>
            </a:r>
            <a:r>
              <a:rPr sz="2800" b="1" spc="-80" dirty="0">
                <a:latin typeface="Calibri"/>
                <a:cs typeface="Calibri"/>
              </a:rPr>
              <a:t>Test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5" dirty="0">
                <a:latin typeface="Calibri"/>
                <a:cs typeface="Calibri"/>
              </a:rPr>
              <a:t>--</a:t>
            </a:r>
            <a:r>
              <a:rPr sz="2800" b="1" spc="-10" dirty="0">
                <a:latin typeface="Calibri"/>
                <a:cs typeface="Calibri"/>
              </a:rPr>
              <a:t>-</a:t>
            </a:r>
            <a:r>
              <a:rPr sz="2800" b="1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Imitation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Game</a:t>
            </a:r>
            <a:endParaRPr sz="2800" dirty="0">
              <a:latin typeface="Calibri"/>
              <a:cs typeface="Calibri"/>
            </a:endParaRPr>
          </a:p>
          <a:p>
            <a:pPr marL="524510" lvl="1" indent="-228600">
              <a:lnSpc>
                <a:spcPts val="3140"/>
              </a:lnSpc>
              <a:spcBef>
                <a:spcPts val="233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Natural</a:t>
            </a:r>
            <a:r>
              <a:rPr sz="27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Language</a:t>
            </a:r>
            <a:r>
              <a:rPr sz="27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endParaRPr sz="2700" dirty="0">
              <a:latin typeface="Calibri"/>
              <a:cs typeface="Calibri"/>
            </a:endParaRPr>
          </a:p>
          <a:p>
            <a:pPr marL="534035">
              <a:lnSpc>
                <a:spcPts val="2900"/>
              </a:lnSpc>
            </a:pPr>
            <a:r>
              <a:rPr sz="2500" spc="-90" dirty="0">
                <a:latin typeface="Calibri"/>
                <a:cs typeface="Calibri"/>
              </a:rPr>
              <a:t>To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recognize</a:t>
            </a:r>
            <a:r>
              <a:rPr sz="2500" spc="-1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language</a:t>
            </a:r>
            <a:endParaRPr sz="25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2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2700" spc="-1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representation</a:t>
            </a:r>
            <a:endParaRPr sz="2700" dirty="0">
              <a:latin typeface="Calibri"/>
              <a:cs typeface="Calibri"/>
            </a:endParaRPr>
          </a:p>
          <a:p>
            <a:pPr marL="534035">
              <a:lnSpc>
                <a:spcPct val="100000"/>
              </a:lnSpc>
              <a:spcBef>
                <a:spcPts val="420"/>
              </a:spcBef>
            </a:pPr>
            <a:r>
              <a:rPr sz="2500" spc="-90" dirty="0">
                <a:latin typeface="Calibri"/>
                <a:cs typeface="Calibri"/>
              </a:rPr>
              <a:t>To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store</a:t>
            </a:r>
            <a:r>
              <a:rPr sz="2500" spc="-1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knowledge</a:t>
            </a:r>
            <a:endParaRPr sz="2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5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Automated</a:t>
            </a:r>
            <a:r>
              <a:rPr sz="27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reasoning</a:t>
            </a:r>
            <a:endParaRPr lang="en-IN" sz="27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295910" lvl="1">
              <a:lnSpc>
                <a:spcPct val="100000"/>
              </a:lnSpc>
              <a:buClr>
                <a:srgbClr val="539E39"/>
              </a:buClr>
              <a:tabLst>
                <a:tab pos="524510" algn="l"/>
              </a:tabLst>
            </a:pPr>
            <a:r>
              <a:rPr lang="en-IN" sz="2700" spc="-9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500" spc="-90" dirty="0">
                <a:latin typeface="Calibri"/>
                <a:cs typeface="Calibri"/>
              </a:rPr>
              <a:t>To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give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answer</a:t>
            </a:r>
            <a:endParaRPr sz="25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86" y="664402"/>
            <a:ext cx="5366784" cy="4794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983" y="1863255"/>
            <a:ext cx="3418916" cy="37556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1444497"/>
            <a:ext cx="5145532" cy="4142801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68605" marR="397510" indent="-256540">
              <a:lnSpc>
                <a:spcPts val="3240"/>
              </a:lnSpc>
              <a:spcBef>
                <a:spcPts val="505"/>
              </a:spcBef>
              <a:tabLst>
                <a:tab pos="268605" algn="l"/>
              </a:tabLst>
            </a:pPr>
            <a:r>
              <a:rPr sz="3000" b="1" spc="-20" dirty="0">
                <a:latin typeface="Calibri"/>
                <a:cs typeface="Calibri"/>
              </a:rPr>
              <a:t>Turing</a:t>
            </a:r>
            <a:r>
              <a:rPr sz="3000" b="1" spc="-40" dirty="0">
                <a:latin typeface="Calibri"/>
                <a:cs typeface="Calibri"/>
              </a:rPr>
              <a:t> </a:t>
            </a:r>
            <a:r>
              <a:rPr sz="3000" b="1" spc="-60" dirty="0">
                <a:latin typeface="Calibri"/>
                <a:cs typeface="Calibri"/>
              </a:rPr>
              <a:t>Test</a:t>
            </a:r>
            <a:r>
              <a:rPr sz="3000" b="1" spc="-6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---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315" dirty="0">
                <a:latin typeface="Calibri"/>
                <a:cs typeface="Calibri"/>
              </a:rPr>
              <a:t>Imitation </a:t>
            </a:r>
            <a:r>
              <a:rPr sz="3000" spc="-20" dirty="0">
                <a:latin typeface="Calibri"/>
                <a:cs typeface="Calibri"/>
              </a:rPr>
              <a:t>Game</a:t>
            </a:r>
            <a:endParaRPr sz="30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227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r>
              <a:rPr sz="27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learning</a:t>
            </a:r>
            <a:endParaRPr sz="2700" dirty="0">
              <a:latin typeface="Calibri"/>
              <a:cs typeface="Calibri"/>
            </a:endParaRPr>
          </a:p>
          <a:p>
            <a:pPr marL="534035">
              <a:lnSpc>
                <a:spcPct val="100000"/>
              </a:lnSpc>
              <a:spcBef>
                <a:spcPts val="60"/>
              </a:spcBef>
            </a:pPr>
            <a:r>
              <a:rPr sz="2800" dirty="0">
                <a:latin typeface="Calibri"/>
                <a:cs typeface="Calibri"/>
              </a:rPr>
              <a:t>adapt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circumstances</a:t>
            </a:r>
            <a:endParaRPr sz="28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7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dirty="0">
                <a:solidFill>
                  <a:srgbClr val="FF0000"/>
                </a:solidFill>
                <a:latin typeface="Calibri"/>
                <a:cs typeface="Calibri"/>
              </a:rPr>
              <a:t>Computer</a:t>
            </a:r>
            <a:r>
              <a:rPr sz="2700" spc="-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vision</a:t>
            </a:r>
            <a:endParaRPr sz="2700" dirty="0">
              <a:latin typeface="Calibri"/>
              <a:cs typeface="Calibri"/>
            </a:endParaRPr>
          </a:p>
          <a:p>
            <a:pPr marL="534035">
              <a:lnSpc>
                <a:spcPct val="100000"/>
              </a:lnSpc>
              <a:spcBef>
                <a:spcPts val="60"/>
              </a:spcBef>
            </a:pPr>
            <a:r>
              <a:rPr sz="2800" dirty="0">
                <a:latin typeface="Calibri"/>
                <a:cs typeface="Calibri"/>
              </a:rPr>
              <a:t>perceive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</a:t>
            </a:r>
            <a:endParaRPr sz="28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9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700" spc="-10" dirty="0">
                <a:solidFill>
                  <a:srgbClr val="FF0000"/>
                </a:solidFill>
                <a:latin typeface="Calibri"/>
                <a:cs typeface="Calibri"/>
              </a:rPr>
              <a:t>Robotics</a:t>
            </a:r>
            <a:endParaRPr sz="2700" dirty="0">
              <a:latin typeface="Calibri"/>
              <a:cs typeface="Calibri"/>
            </a:endParaRPr>
          </a:p>
          <a:p>
            <a:pPr marL="534035">
              <a:lnSpc>
                <a:spcPct val="100000"/>
              </a:lnSpc>
              <a:spcBef>
                <a:spcPts val="55"/>
              </a:spcBef>
            </a:pPr>
            <a:r>
              <a:rPr sz="2800" spc="-10" dirty="0">
                <a:latin typeface="Calibri"/>
                <a:cs typeface="Calibri"/>
              </a:rPr>
              <a:t>manipulate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objects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86" y="664402"/>
            <a:ext cx="5366784" cy="4794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83731" y="1863255"/>
            <a:ext cx="3141167" cy="375566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52400" y="1371600"/>
            <a:ext cx="5831332" cy="3855671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68605" marR="798830" indent="-256540">
              <a:lnSpc>
                <a:spcPts val="3350"/>
              </a:lnSpc>
              <a:spcBef>
                <a:spcPts val="515"/>
              </a:spcBef>
              <a:tabLst>
                <a:tab pos="268605" algn="l"/>
              </a:tabLst>
            </a:pPr>
            <a:r>
              <a:rPr sz="3100" b="1" spc="-20" dirty="0">
                <a:latin typeface="Calibri"/>
                <a:cs typeface="Calibri"/>
              </a:rPr>
              <a:t>Turing</a:t>
            </a:r>
            <a:r>
              <a:rPr sz="3100" b="1" spc="-40" dirty="0">
                <a:latin typeface="Calibri"/>
                <a:cs typeface="Calibri"/>
              </a:rPr>
              <a:t> </a:t>
            </a:r>
            <a:r>
              <a:rPr sz="3100" b="1" spc="-60" dirty="0">
                <a:latin typeface="Calibri"/>
                <a:cs typeface="Calibri"/>
              </a:rPr>
              <a:t>Test</a:t>
            </a:r>
            <a:r>
              <a:rPr sz="3100" b="1" spc="-50" dirty="0">
                <a:latin typeface="Calibri"/>
                <a:cs typeface="Calibri"/>
              </a:rPr>
              <a:t> </a:t>
            </a:r>
            <a:r>
              <a:rPr sz="3100" spc="-10" dirty="0">
                <a:latin typeface="Calibri"/>
                <a:cs typeface="Calibri"/>
              </a:rPr>
              <a:t>--</a:t>
            </a:r>
            <a:r>
              <a:rPr sz="3100" dirty="0">
                <a:latin typeface="Calibri"/>
                <a:cs typeface="Calibri"/>
              </a:rPr>
              <a:t>-</a:t>
            </a:r>
            <a:r>
              <a:rPr sz="3100" spc="-55" dirty="0">
                <a:latin typeface="Calibri"/>
                <a:cs typeface="Calibri"/>
              </a:rPr>
              <a:t> </a:t>
            </a:r>
            <a:r>
              <a:rPr sz="3100" dirty="0">
                <a:latin typeface="Calibri"/>
                <a:cs typeface="Calibri"/>
              </a:rPr>
              <a:t>An</a:t>
            </a:r>
            <a:r>
              <a:rPr sz="3100" spc="-50" dirty="0">
                <a:latin typeface="Calibri"/>
                <a:cs typeface="Calibri"/>
              </a:rPr>
              <a:t> </a:t>
            </a:r>
            <a:r>
              <a:rPr sz="3100" spc="-330" dirty="0">
                <a:latin typeface="Calibri"/>
                <a:cs typeface="Calibri"/>
              </a:rPr>
              <a:t>Imitation </a:t>
            </a:r>
            <a:r>
              <a:rPr sz="3100" spc="-20" dirty="0">
                <a:latin typeface="Calibri"/>
                <a:cs typeface="Calibri"/>
              </a:rPr>
              <a:t>Game</a:t>
            </a:r>
            <a:endParaRPr sz="3100" dirty="0">
              <a:latin typeface="Calibri"/>
              <a:cs typeface="Calibri"/>
            </a:endParaRPr>
          </a:p>
          <a:p>
            <a:pPr marL="190500">
              <a:lnSpc>
                <a:spcPct val="100000"/>
              </a:lnSpc>
              <a:spcBef>
                <a:spcPts val="3610"/>
              </a:spcBef>
            </a:pPr>
            <a:r>
              <a:rPr sz="3100" b="1" dirty="0">
                <a:solidFill>
                  <a:srgbClr val="89B833"/>
                </a:solidFill>
                <a:latin typeface="Calibri"/>
                <a:cs typeface="Calibri"/>
              </a:rPr>
              <a:t>Is</a:t>
            </a:r>
            <a:r>
              <a:rPr sz="3100" b="1" spc="-85" dirty="0">
                <a:solidFill>
                  <a:srgbClr val="89B833"/>
                </a:solidFill>
                <a:latin typeface="Calibri"/>
                <a:cs typeface="Calibri"/>
              </a:rPr>
              <a:t> </a:t>
            </a:r>
            <a:r>
              <a:rPr sz="3100" b="1" spc="-20" dirty="0">
                <a:solidFill>
                  <a:srgbClr val="89B833"/>
                </a:solidFill>
                <a:latin typeface="Calibri"/>
                <a:cs typeface="Calibri"/>
              </a:rPr>
              <a:t>Turing</a:t>
            </a:r>
            <a:r>
              <a:rPr sz="3100" b="1" spc="-75" dirty="0">
                <a:solidFill>
                  <a:srgbClr val="89B833"/>
                </a:solidFill>
                <a:latin typeface="Calibri"/>
                <a:cs typeface="Calibri"/>
              </a:rPr>
              <a:t> </a:t>
            </a:r>
            <a:r>
              <a:rPr sz="3100" b="1" spc="-60" dirty="0">
                <a:solidFill>
                  <a:srgbClr val="89B833"/>
                </a:solidFill>
                <a:latin typeface="Calibri"/>
                <a:cs typeface="Calibri"/>
              </a:rPr>
              <a:t>Test</a:t>
            </a:r>
            <a:r>
              <a:rPr sz="3100" b="1" spc="-85" dirty="0">
                <a:solidFill>
                  <a:srgbClr val="89B833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89B833"/>
                </a:solidFill>
                <a:latin typeface="Calibri"/>
                <a:cs typeface="Calibri"/>
              </a:rPr>
              <a:t>the</a:t>
            </a:r>
            <a:r>
              <a:rPr sz="3100" b="1" spc="-65" dirty="0">
                <a:solidFill>
                  <a:srgbClr val="89B833"/>
                </a:solidFill>
                <a:latin typeface="Calibri"/>
                <a:cs typeface="Calibri"/>
              </a:rPr>
              <a:t> </a:t>
            </a:r>
            <a:r>
              <a:rPr sz="3100" b="1" dirty="0">
                <a:solidFill>
                  <a:srgbClr val="89B833"/>
                </a:solidFill>
                <a:latin typeface="Calibri"/>
                <a:cs typeface="Calibri"/>
              </a:rPr>
              <a:t>right</a:t>
            </a:r>
            <a:r>
              <a:rPr sz="3100" b="1" spc="-75" dirty="0">
                <a:solidFill>
                  <a:srgbClr val="89B833"/>
                </a:solidFill>
                <a:latin typeface="Calibri"/>
                <a:cs typeface="Calibri"/>
              </a:rPr>
              <a:t> </a:t>
            </a:r>
            <a:r>
              <a:rPr sz="3100" b="1" spc="-10" dirty="0">
                <a:solidFill>
                  <a:srgbClr val="89B833"/>
                </a:solidFill>
                <a:latin typeface="Calibri"/>
                <a:cs typeface="Calibri"/>
              </a:rPr>
              <a:t>goal?</a:t>
            </a:r>
            <a:endParaRPr sz="3100" dirty="0">
              <a:latin typeface="Calibri"/>
              <a:cs typeface="Calibri"/>
            </a:endParaRPr>
          </a:p>
          <a:p>
            <a:pPr marL="303530" marR="5080" indent="-38100">
              <a:lnSpc>
                <a:spcPct val="150000"/>
              </a:lnSpc>
              <a:spcBef>
                <a:spcPts val="3385"/>
              </a:spcBef>
            </a:pP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Aeronautical</a:t>
            </a:r>
            <a:r>
              <a:rPr sz="22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engineering</a:t>
            </a:r>
            <a:r>
              <a:rPr sz="2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texts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define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goal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their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field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as: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making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machines </a:t>
            </a:r>
            <a:r>
              <a:rPr sz="2200" i="1" dirty="0">
                <a:latin typeface="Calibri"/>
                <a:cs typeface="Calibri"/>
              </a:rPr>
              <a:t>that</a:t>
            </a:r>
            <a:r>
              <a:rPr sz="2200" i="1" spc="-4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fly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so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exactly</a:t>
            </a:r>
            <a:r>
              <a:rPr sz="2200" i="1" spc="-2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like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pigeons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that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they</a:t>
            </a:r>
            <a:r>
              <a:rPr sz="2200" i="1" spc="-20" dirty="0">
                <a:latin typeface="Calibri"/>
                <a:cs typeface="Calibri"/>
              </a:rPr>
              <a:t> </a:t>
            </a:r>
            <a:r>
              <a:rPr sz="2200" i="1" spc="-25" dirty="0">
                <a:latin typeface="Calibri"/>
                <a:cs typeface="Calibri"/>
              </a:rPr>
              <a:t>can </a:t>
            </a:r>
            <a:r>
              <a:rPr sz="2200" i="1" dirty="0">
                <a:latin typeface="Calibri"/>
                <a:cs typeface="Calibri"/>
              </a:rPr>
              <a:t>fool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even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other</a:t>
            </a:r>
            <a:r>
              <a:rPr sz="2200" i="1" spc="-30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pigeons</a:t>
            </a:r>
            <a:r>
              <a:rPr sz="2200" dirty="0">
                <a:latin typeface="Calibri"/>
                <a:cs typeface="Calibri"/>
              </a:rPr>
              <a:t>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89B833"/>
                </a:solidFill>
                <a:latin typeface="Calibri"/>
                <a:cs typeface="Calibri"/>
              </a:rPr>
              <a:t>[Russell</a:t>
            </a:r>
            <a:r>
              <a:rPr sz="2200" spc="-25" dirty="0">
                <a:solidFill>
                  <a:srgbClr val="89B833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89B833"/>
                </a:solidFill>
                <a:latin typeface="Calibri"/>
                <a:cs typeface="Calibri"/>
              </a:rPr>
              <a:t>and</a:t>
            </a:r>
            <a:r>
              <a:rPr sz="2200" spc="-30" dirty="0">
                <a:solidFill>
                  <a:srgbClr val="89B833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89B833"/>
                </a:solidFill>
                <a:latin typeface="Calibri"/>
                <a:cs typeface="Calibri"/>
              </a:rPr>
              <a:t>Norvig]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86" y="664402"/>
            <a:ext cx="5366784" cy="4794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45668" y="1886153"/>
            <a:ext cx="7653020" cy="23544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Cognitive</a:t>
            </a:r>
            <a:r>
              <a:rPr sz="2800" b="1" u="sng" spc="-1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Science:</a:t>
            </a:r>
            <a:endParaRPr sz="2800" dirty="0">
              <a:latin typeface="Calibri"/>
              <a:cs typeface="Calibri"/>
            </a:endParaRPr>
          </a:p>
          <a:p>
            <a:pPr marL="268605" marR="71120" indent="-256540">
              <a:lnSpc>
                <a:spcPts val="3020"/>
              </a:lnSpc>
              <a:spcBef>
                <a:spcPts val="445"/>
              </a:spcBef>
              <a:tabLst>
                <a:tab pos="268605" algn="l"/>
              </a:tabLst>
            </a:pPr>
            <a:r>
              <a:rPr sz="1900" spc="-19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90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brings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together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computer</a:t>
            </a:r>
            <a:r>
              <a:rPr sz="2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models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from</a:t>
            </a:r>
            <a:r>
              <a:rPr sz="2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Artificial</a:t>
            </a:r>
            <a:r>
              <a:rPr sz="2800" b="1" spc="70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Intelligence</a:t>
            </a:r>
            <a:r>
              <a:rPr sz="2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experimental</a:t>
            </a:r>
            <a:r>
              <a:rPr sz="2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techniques</a:t>
            </a:r>
            <a:r>
              <a:rPr sz="28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from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Psychology</a:t>
            </a:r>
            <a:endParaRPr sz="2800" dirty="0">
              <a:latin typeface="Calibri"/>
              <a:cs typeface="Calibri"/>
            </a:endParaRPr>
          </a:p>
          <a:p>
            <a:pPr marL="524510" marR="5080" lvl="1" indent="-229235">
              <a:lnSpc>
                <a:spcPts val="2590"/>
              </a:lnSpc>
              <a:spcBef>
                <a:spcPts val="33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construct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precise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testable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theories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workings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mind.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28" y="664402"/>
            <a:ext cx="3275875" cy="4794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35" dirty="0"/>
              <a:t> </a:t>
            </a:r>
            <a:r>
              <a:rPr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“Laws</a:t>
            </a:r>
            <a:r>
              <a:rPr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of</a:t>
            </a:r>
            <a:r>
              <a:rPr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Thought”</a:t>
            </a:r>
            <a:r>
              <a:rPr spc="-25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45668" y="1970659"/>
            <a:ext cx="7945120" cy="3257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800" spc="-18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80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700" dirty="0">
                <a:latin typeface="Calibri"/>
                <a:cs typeface="Calibri"/>
              </a:rPr>
              <a:t>Aristotle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was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one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first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attempt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codify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“right</a:t>
            </a:r>
            <a:r>
              <a:rPr sz="2700" spc="675" dirty="0">
                <a:latin typeface="Calibri"/>
                <a:cs typeface="Calibri"/>
              </a:rPr>
              <a:t>  </a:t>
            </a:r>
            <a:r>
              <a:rPr sz="2700" spc="-10" dirty="0">
                <a:latin typeface="Calibri"/>
                <a:cs typeface="Calibri"/>
              </a:rPr>
              <a:t>thinking”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2700" dirty="0">
                <a:latin typeface="Calibri"/>
                <a:cs typeface="Calibri"/>
              </a:rPr>
              <a:t>Initi</a:t>
            </a:r>
            <a:r>
              <a:rPr sz="2700" spc="-15" dirty="0">
                <a:latin typeface="Calibri"/>
                <a:cs typeface="Calibri"/>
              </a:rPr>
              <a:t>a</a:t>
            </a:r>
            <a:r>
              <a:rPr sz="2700" spc="-3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10" dirty="0">
                <a:latin typeface="Calibri"/>
                <a:cs typeface="Calibri"/>
              </a:rPr>
              <a:t> field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c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5" dirty="0">
                <a:latin typeface="Calibri"/>
                <a:cs typeface="Calibri"/>
              </a:rPr>
              <a:t>l</a:t>
            </a:r>
            <a:r>
              <a:rPr sz="2700" spc="-5" dirty="0">
                <a:latin typeface="Calibri"/>
                <a:cs typeface="Calibri"/>
              </a:rPr>
              <a:t>le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b="1" spc="-5" dirty="0">
                <a:latin typeface="Calibri"/>
                <a:cs typeface="Calibri"/>
              </a:rPr>
              <a:t>logic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700" dirty="0">
              <a:latin typeface="Calibri"/>
              <a:cs typeface="Calibri"/>
            </a:endParaRPr>
          </a:p>
          <a:p>
            <a:pPr marL="1661795" marR="795020" indent="-84455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Socrates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man;</a:t>
            </a:r>
            <a:r>
              <a:rPr sz="32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men</a:t>
            </a:r>
            <a:r>
              <a:rPr sz="32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32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mortal; therefore,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Socrates</a:t>
            </a:r>
            <a:r>
              <a:rPr sz="32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32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Calibri"/>
                <a:cs typeface="Calibri"/>
              </a:rPr>
              <a:t>mortal.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71600"/>
            <a:ext cx="7347711" cy="282146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4223766"/>
            <a:ext cx="7719059" cy="1589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10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Act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rationally/like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human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presumably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(some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sort</a:t>
            </a:r>
            <a:r>
              <a:rPr sz="2400" spc="60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thinking</a:t>
            </a:r>
            <a:r>
              <a:rPr sz="2400" b="1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rationally/like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human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68605" algn="l"/>
              </a:tabLst>
            </a:pPr>
            <a:r>
              <a:rPr sz="2400" spc="-10" dirty="0">
                <a:latin typeface="Calibri"/>
                <a:cs typeface="Calibri"/>
              </a:rPr>
              <a:t>Humans</a:t>
            </a:r>
            <a:r>
              <a:rPr sz="2400" spc="-5" dirty="0">
                <a:latin typeface="Calibri"/>
                <a:cs typeface="Calibri"/>
              </a:rPr>
              <a:t> muc</a:t>
            </a:r>
            <a:r>
              <a:rPr sz="2400" dirty="0">
                <a:latin typeface="Calibri"/>
                <a:cs typeface="Calibri"/>
              </a:rPr>
              <a:t>h</a:t>
            </a:r>
            <a:r>
              <a:rPr sz="2400" spc="-15" dirty="0">
                <a:latin typeface="Calibri"/>
                <a:cs typeface="Calibri"/>
              </a:rPr>
              <a:t> more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rational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ompl</a:t>
            </a:r>
            <a:r>
              <a:rPr sz="2400" spc="-35" dirty="0">
                <a:latin typeface="Calibri"/>
                <a:cs typeface="Calibri"/>
              </a:rPr>
              <a:t>e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domains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80" y="664402"/>
            <a:ext cx="3025933" cy="47945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1491742"/>
            <a:ext cx="4175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rational</a:t>
            </a:r>
            <a:r>
              <a:rPr spc="-95" dirty="0"/>
              <a:t> </a:t>
            </a:r>
            <a:r>
              <a:rPr dirty="0"/>
              <a:t>agent</a:t>
            </a:r>
            <a:r>
              <a:rPr spc="-114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1975" y="2438400"/>
            <a:ext cx="7953375" cy="2687274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268605" algn="l"/>
              </a:tabLst>
            </a:pP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Rational</a:t>
            </a:r>
            <a:r>
              <a:rPr sz="27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FF0000"/>
                </a:solidFill>
                <a:latin typeface="Calibri"/>
                <a:cs typeface="Calibri"/>
              </a:rPr>
              <a:t>behavior</a:t>
            </a:r>
            <a:r>
              <a:rPr sz="2700" spc="-15" dirty="0">
                <a:latin typeface="Calibri"/>
                <a:cs typeface="Calibri"/>
              </a:rPr>
              <a:t>:</a:t>
            </a:r>
            <a:r>
              <a:rPr sz="2700" spc="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doing </a:t>
            </a:r>
            <a:r>
              <a:rPr sz="2700" spc="-10" dirty="0">
                <a:latin typeface="Calibri"/>
                <a:cs typeface="Calibri"/>
              </a:rPr>
              <a:t>t</a:t>
            </a:r>
            <a:r>
              <a:rPr sz="2700" dirty="0">
                <a:latin typeface="Calibri"/>
                <a:cs typeface="Calibri"/>
              </a:rPr>
              <a:t>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b="1" i="1" spc="-10" dirty="0">
                <a:latin typeface="Calibri"/>
                <a:cs typeface="Calibri"/>
              </a:rPr>
              <a:t>right</a:t>
            </a:r>
            <a:r>
              <a:rPr sz="2700" b="1" i="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thing</a:t>
            </a: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2700" spc="-25" dirty="0">
                <a:latin typeface="Calibri"/>
                <a:cs typeface="Calibri"/>
              </a:rPr>
              <a:t>System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rational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it</a:t>
            </a:r>
            <a:r>
              <a:rPr sz="2700" spc="-5" dirty="0">
                <a:latin typeface="Calibri"/>
                <a:cs typeface="Calibri"/>
              </a:rPr>
              <a:t> d</a:t>
            </a:r>
            <a:r>
              <a:rPr sz="2700" spc="5" dirty="0">
                <a:latin typeface="Calibri"/>
                <a:cs typeface="Calibri"/>
              </a:rPr>
              <a:t>o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5" dirty="0">
                <a:latin typeface="Calibri"/>
                <a:cs typeface="Calibri"/>
              </a:rPr>
              <a:t>rig</a:t>
            </a:r>
            <a:r>
              <a:rPr sz="2700" spc="-30" dirty="0">
                <a:latin typeface="Calibri"/>
                <a:cs typeface="Calibri"/>
              </a:rPr>
              <a:t>h</a:t>
            </a:r>
            <a:r>
              <a:rPr sz="270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 thing.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  <a:tabLst>
                <a:tab pos="268605" algn="l"/>
              </a:tabLst>
            </a:pPr>
            <a:r>
              <a:rPr sz="2700" spc="-5" dirty="0">
                <a:latin typeface="Calibri"/>
                <a:cs typeface="Calibri"/>
              </a:rPr>
              <a:t>T</a:t>
            </a:r>
            <a:r>
              <a:rPr sz="2700" dirty="0">
                <a:latin typeface="Calibri"/>
                <a:cs typeface="Calibri"/>
              </a:rPr>
              <a:t>he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rig</a:t>
            </a:r>
            <a:r>
              <a:rPr sz="2700" spc="-30" dirty="0">
                <a:latin typeface="Calibri"/>
                <a:cs typeface="Calibri"/>
              </a:rPr>
              <a:t>h</a:t>
            </a:r>
            <a:r>
              <a:rPr sz="2700" dirty="0">
                <a:latin typeface="Calibri"/>
                <a:cs typeface="Calibri"/>
              </a:rPr>
              <a:t>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thing</a:t>
            </a:r>
          </a:p>
          <a:p>
            <a:pPr marL="525145" lvl="1" indent="-22923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Font typeface="Verdana"/>
              <a:buChar char="◦"/>
              <a:tabLst>
                <a:tab pos="525145" algn="l"/>
              </a:tabLst>
            </a:pPr>
            <a:r>
              <a:rPr sz="2300" dirty="0">
                <a:latin typeface="Calibri"/>
                <a:cs typeface="Calibri"/>
              </a:rPr>
              <a:t>to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maximize</a:t>
            </a:r>
            <a:r>
              <a:rPr sz="23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goal</a:t>
            </a:r>
            <a:r>
              <a:rPr sz="23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alibri"/>
                <a:cs typeface="Calibri"/>
              </a:rPr>
              <a:t>achievement</a:t>
            </a:r>
            <a:r>
              <a:rPr sz="2300" spc="-10" dirty="0">
                <a:latin typeface="Calibri"/>
                <a:cs typeface="Calibri"/>
              </a:rPr>
              <a:t>,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given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available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information</a:t>
            </a:r>
            <a:endParaRPr sz="2300" dirty="0">
              <a:latin typeface="Calibri"/>
              <a:cs typeface="Calibri"/>
            </a:endParaRPr>
          </a:p>
          <a:p>
            <a:pPr marL="268605" marR="647065" indent="-256540">
              <a:lnSpc>
                <a:spcPct val="100000"/>
              </a:lnSpc>
              <a:spcBef>
                <a:spcPts val="380"/>
              </a:spcBef>
              <a:tabLst>
                <a:tab pos="268605" algn="l"/>
                <a:tab pos="6167120" algn="l"/>
              </a:tabLst>
            </a:pPr>
            <a:r>
              <a:rPr sz="1800" dirty="0">
                <a:solidFill>
                  <a:srgbClr val="539E39"/>
                </a:solidFill>
                <a:latin typeface="Microsoft Sans Serif"/>
                <a:cs typeface="Microsoft Sans Serif"/>
              </a:rPr>
              <a:t>	</a:t>
            </a:r>
            <a:r>
              <a:rPr sz="2700" spc="-10" dirty="0">
                <a:latin typeface="Calibri"/>
                <a:cs typeface="Calibri"/>
              </a:rPr>
              <a:t>Doesn't </a:t>
            </a:r>
            <a:r>
              <a:rPr sz="2700" dirty="0">
                <a:latin typeface="Calibri"/>
                <a:cs typeface="Calibri"/>
              </a:rPr>
              <a:t>necessarily involve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thinking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–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but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thinking </a:t>
            </a:r>
            <a:r>
              <a:rPr sz="2700" dirty="0">
                <a:latin typeface="Calibri"/>
                <a:cs typeface="Calibri"/>
              </a:rPr>
              <a:t>should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service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rational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action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80" y="664402"/>
            <a:ext cx="3025933" cy="47945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2549" y="4355535"/>
            <a:ext cx="1500423" cy="53430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6892D2-715E-0617-C7BB-0CCBB0649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28</a:t>
            </a:fld>
            <a:endParaRPr lang="en-PK" spc="-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6998" y="3752763"/>
            <a:ext cx="6200775" cy="27985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5668" y="1447236"/>
            <a:ext cx="7952105" cy="20021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268605" algn="l"/>
              </a:tabLst>
            </a:pP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Agent</a:t>
            </a: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i</a:t>
            </a:r>
            <a:r>
              <a:rPr sz="2700" dirty="0">
                <a:latin typeface="Calibri"/>
                <a:cs typeface="Calibri"/>
              </a:rPr>
              <a:t>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e</a:t>
            </a:r>
            <a:r>
              <a:rPr sz="2700" spc="-30" dirty="0">
                <a:latin typeface="Calibri"/>
                <a:cs typeface="Calibri"/>
              </a:rPr>
              <a:t>n</a:t>
            </a:r>
            <a:r>
              <a:rPr sz="2700" dirty="0">
                <a:latin typeface="Calibri"/>
                <a:cs typeface="Calibri"/>
              </a:rPr>
              <a:t>tity </a:t>
            </a:r>
            <a:r>
              <a:rPr sz="2700" spc="-5" dirty="0">
                <a:latin typeface="Calibri"/>
                <a:cs typeface="Calibri"/>
              </a:rPr>
              <a:t>which</a:t>
            </a:r>
            <a:endParaRPr sz="2700" dirty="0">
              <a:latin typeface="Calibri"/>
              <a:cs typeface="Calibri"/>
            </a:endParaRPr>
          </a:p>
          <a:p>
            <a:pPr marL="525145" lvl="1" indent="-229235">
              <a:lnSpc>
                <a:spcPct val="100000"/>
              </a:lnSpc>
              <a:spcBef>
                <a:spcPts val="315"/>
              </a:spcBef>
              <a:buClr>
                <a:srgbClr val="539E39"/>
              </a:buClr>
              <a:buFont typeface="Verdana"/>
              <a:buChar char="◦"/>
              <a:tabLst>
                <a:tab pos="525145" algn="l"/>
              </a:tabLst>
            </a:pPr>
            <a:r>
              <a:rPr sz="2300" b="1" dirty="0">
                <a:latin typeface="Calibri"/>
                <a:cs typeface="Calibri"/>
              </a:rPr>
              <a:t>perceives</a:t>
            </a:r>
            <a:r>
              <a:rPr sz="2300" b="1" spc="-75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its</a:t>
            </a:r>
            <a:r>
              <a:rPr sz="2300" b="1" spc="-5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environment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FF0000"/>
                </a:solidFill>
                <a:latin typeface="Calibri"/>
                <a:cs typeface="Calibri"/>
              </a:rPr>
              <a:t>sensors</a:t>
            </a:r>
            <a:r>
              <a:rPr sz="23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and</a:t>
            </a:r>
            <a:endParaRPr sz="23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b="1" dirty="0">
                <a:latin typeface="Calibri"/>
                <a:cs typeface="Calibri"/>
              </a:rPr>
              <a:t>acts</a:t>
            </a:r>
            <a:r>
              <a:rPr sz="2300" b="1" spc="-8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upon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b="1" dirty="0">
                <a:latin typeface="Calibri"/>
                <a:cs typeface="Calibri"/>
              </a:rPr>
              <a:t>that</a:t>
            </a:r>
            <a:r>
              <a:rPr sz="2300" b="1" spc="-65" dirty="0">
                <a:latin typeface="Calibri"/>
                <a:cs typeface="Calibri"/>
              </a:rPr>
              <a:t> </a:t>
            </a:r>
            <a:r>
              <a:rPr sz="2300" b="1" spc="-10" dirty="0">
                <a:latin typeface="Calibri"/>
                <a:cs typeface="Calibri"/>
              </a:rPr>
              <a:t>environment</a:t>
            </a:r>
            <a:r>
              <a:rPr sz="2300" b="1" spc="-6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through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alibri"/>
                <a:cs typeface="Calibri"/>
              </a:rPr>
              <a:t>actuators</a:t>
            </a:r>
            <a:endParaRPr sz="2300" dirty="0">
              <a:latin typeface="Calibri"/>
              <a:cs typeface="Calibri"/>
            </a:endParaRPr>
          </a:p>
          <a:p>
            <a:pPr marL="524510" marR="5080" lvl="1" indent="-22923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b="1" dirty="0">
                <a:solidFill>
                  <a:srgbClr val="FF0000"/>
                </a:solidFill>
                <a:latin typeface="Calibri"/>
                <a:cs typeface="Calibri"/>
              </a:rPr>
              <a:t>Assumption:</a:t>
            </a:r>
            <a:r>
              <a:rPr sz="23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Every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agent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can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perceive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own</a:t>
            </a:r>
            <a:r>
              <a:rPr sz="2300" spc="-5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actions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(but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not </a:t>
            </a:r>
            <a:r>
              <a:rPr sz="2300" dirty="0">
                <a:latin typeface="Calibri"/>
                <a:cs typeface="Calibri"/>
              </a:rPr>
              <a:t>always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6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effects)</a:t>
            </a:r>
            <a:endParaRPr sz="23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479" y="687260"/>
            <a:ext cx="1282478" cy="45660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2133638"/>
            <a:ext cx="6096000" cy="39259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Agent</a:t>
            </a:r>
            <a:r>
              <a:rPr spc="-5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50" y="391796"/>
            <a:ext cx="1282478" cy="4566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1511617"/>
            <a:ext cx="7439025" cy="3834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68605" marR="513080" indent="-256540">
              <a:lnSpc>
                <a:spcPct val="80000"/>
              </a:lnSpc>
              <a:spcBef>
                <a:spcPts val="675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400" spc="-25" dirty="0">
                <a:latin typeface="Calibri"/>
                <a:cs typeface="Calibri"/>
              </a:rPr>
              <a:t>Abstractly,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agent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which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maps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percept</a:t>
            </a:r>
            <a:r>
              <a:rPr sz="2400" b="1" spc="600" dirty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histories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4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actions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523240" algn="ctr">
              <a:lnSpc>
                <a:spcPct val="100000"/>
              </a:lnSpc>
              <a:spcBef>
                <a:spcPts val="2175"/>
              </a:spcBef>
            </a:pPr>
            <a:r>
              <a:rPr sz="3600" dirty="0">
                <a:latin typeface="Calibri"/>
                <a:cs typeface="Calibri"/>
              </a:rPr>
              <a:t>[</a:t>
            </a:r>
            <a:r>
              <a:rPr sz="3600" i="1" dirty="0">
                <a:latin typeface="Calibri"/>
                <a:cs typeface="Calibri"/>
              </a:rPr>
              <a:t>f</a:t>
            </a:r>
            <a:r>
              <a:rPr sz="3600" dirty="0">
                <a:latin typeface="Calibri"/>
                <a:cs typeface="Calibri"/>
              </a:rPr>
              <a:t>: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i="1" spc="80" dirty="0">
                <a:latin typeface="Trebuchet MS"/>
                <a:cs typeface="Trebuchet MS"/>
              </a:rPr>
              <a:t>P*</a:t>
            </a:r>
            <a:r>
              <a:rPr sz="3600" i="1" spc="-270" dirty="0">
                <a:latin typeface="Trebuchet MS"/>
                <a:cs typeface="Trebuchet MS"/>
              </a:rPr>
              <a:t> </a:t>
            </a:r>
            <a:r>
              <a:rPr sz="3600" dirty="0">
                <a:latin typeface="Wingdings"/>
                <a:cs typeface="Wingdings"/>
              </a:rPr>
              <a:t>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i="1" spc="-25" dirty="0">
                <a:latin typeface="Trebuchet MS"/>
                <a:cs typeface="Trebuchet MS"/>
              </a:rPr>
              <a:t>A</a:t>
            </a:r>
            <a:r>
              <a:rPr sz="3600" spc="-25" dirty="0">
                <a:latin typeface="Calibri"/>
                <a:cs typeface="Calibri"/>
              </a:rPr>
              <a:t>]</a:t>
            </a:r>
            <a:endParaRPr sz="3600" dirty="0">
              <a:latin typeface="Calibri"/>
              <a:cs typeface="Calibri"/>
            </a:endParaRPr>
          </a:p>
          <a:p>
            <a:pPr marL="268605" marR="5080" indent="-256540">
              <a:lnSpc>
                <a:spcPct val="100000"/>
              </a:lnSpc>
              <a:spcBef>
                <a:spcPts val="3120"/>
              </a:spcBef>
              <a:tabLst>
                <a:tab pos="268605" algn="l"/>
              </a:tabLst>
            </a:pPr>
            <a:r>
              <a:rPr sz="1600" spc="-16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60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lang="en-IN" sz="2400" spc="-20" dirty="0">
                <a:latin typeface="Calibri"/>
                <a:cs typeface="Calibri"/>
              </a:rPr>
              <a:t>In</a:t>
            </a:r>
            <a:r>
              <a:rPr sz="2400" spc="-20" dirty="0" err="1">
                <a:latin typeface="Calibri"/>
                <a:cs typeface="Calibri"/>
              </a:rPr>
              <a:t>ternally</a:t>
            </a:r>
            <a:r>
              <a:rPr sz="2400" spc="-20" dirty="0">
                <a:latin typeface="Calibri"/>
                <a:cs typeface="Calibri"/>
              </a:rPr>
              <a:t>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agent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an</a:t>
            </a:r>
            <a:r>
              <a:rPr sz="2400" b="1" spc="600" dirty="0">
                <a:latin typeface="Calibri"/>
                <a:cs typeface="Calibri"/>
              </a:rPr>
              <a:t>   </a:t>
            </a:r>
            <a:r>
              <a:rPr sz="2400" b="1" dirty="0">
                <a:latin typeface="Calibri"/>
                <a:cs typeface="Calibri"/>
              </a:rPr>
              <a:t>agent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program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physical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architecture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produce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i="1" spc="-50" dirty="0">
                <a:latin typeface="Calibri"/>
                <a:cs typeface="Calibri"/>
              </a:rPr>
              <a:t>f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268605" algn="l"/>
              </a:tabLst>
            </a:pPr>
            <a:r>
              <a:rPr sz="1600" dirty="0">
                <a:solidFill>
                  <a:srgbClr val="539E39"/>
                </a:solidFill>
                <a:latin typeface="Microsoft Sans Serif"/>
                <a:cs typeface="Microsoft Sans Serif"/>
              </a:rPr>
              <a:t>	</a:t>
            </a:r>
            <a:r>
              <a:rPr sz="2400" spc="-15" dirty="0">
                <a:latin typeface="Calibri"/>
                <a:cs typeface="Calibri"/>
              </a:rPr>
              <a:t>agent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=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architecture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+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program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79" y="687260"/>
            <a:ext cx="1282478" cy="4566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219200"/>
            <a:ext cx="8269732" cy="50919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005"/>
              </a:lnSpc>
              <a:spcBef>
                <a:spcPts val="105"/>
              </a:spcBef>
            </a:pPr>
            <a:r>
              <a:rPr sz="2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Agent</a:t>
            </a:r>
            <a:r>
              <a:rPr sz="2600" b="1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Examples: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Human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 agent:</a:t>
            </a:r>
            <a:endParaRPr sz="2600" dirty="0">
              <a:latin typeface="Calibri"/>
              <a:cs typeface="Calibri"/>
            </a:endParaRPr>
          </a:p>
          <a:p>
            <a:pPr marL="469900" indent="-457200">
              <a:lnSpc>
                <a:spcPts val="2900"/>
              </a:lnSpc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2600" dirty="0">
                <a:latin typeface="Calibri"/>
                <a:cs typeface="Calibri"/>
              </a:rPr>
              <a:t>S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nso</a:t>
            </a:r>
            <a:r>
              <a:rPr sz="2600" spc="-4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--</a:t>
            </a:r>
            <a:r>
              <a:rPr sz="2600" spc="-10" dirty="0">
                <a:latin typeface="Calibri"/>
                <a:cs typeface="Calibri"/>
              </a:rPr>
              <a:t>-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y</a:t>
            </a:r>
            <a:r>
              <a:rPr sz="2600" dirty="0">
                <a:latin typeface="Calibri"/>
                <a:cs typeface="Calibri"/>
              </a:rPr>
              <a:t>es,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</a:t>
            </a:r>
            <a:r>
              <a:rPr sz="2600" spc="-45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s, </a:t>
            </a:r>
            <a:r>
              <a:rPr sz="2600" spc="-5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organs</a:t>
            </a:r>
            <a:endParaRPr sz="2600" dirty="0">
              <a:latin typeface="Calibri"/>
              <a:cs typeface="Calibri"/>
            </a:endParaRPr>
          </a:p>
          <a:p>
            <a:pPr marL="469900" indent="-457200">
              <a:lnSpc>
                <a:spcPts val="2890"/>
              </a:lnSpc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2600" spc="-15" dirty="0">
                <a:latin typeface="Calibri"/>
                <a:cs typeface="Calibri"/>
              </a:rPr>
              <a:t>Actuators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--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hands,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legs,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</a:t>
            </a:r>
            <a:r>
              <a:rPr sz="2600" spc="-10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uth, </a:t>
            </a:r>
            <a:r>
              <a:rPr sz="2600" spc="-5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body </a:t>
            </a:r>
            <a:r>
              <a:rPr sz="2600" spc="-5" dirty="0">
                <a:latin typeface="Calibri"/>
                <a:cs typeface="Calibri"/>
              </a:rPr>
              <a:t>parts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Robotic</a:t>
            </a:r>
            <a:r>
              <a:rPr sz="26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agent:</a:t>
            </a:r>
            <a:endParaRPr sz="2600" dirty="0">
              <a:latin typeface="Calibri"/>
              <a:cs typeface="Calibri"/>
            </a:endParaRPr>
          </a:p>
          <a:p>
            <a:pPr marL="469900" indent="-457200">
              <a:lnSpc>
                <a:spcPts val="2900"/>
              </a:lnSpc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2600" spc="-5" dirty="0">
                <a:latin typeface="Calibri"/>
                <a:cs typeface="Calibri"/>
              </a:rPr>
              <a:t>Se</a:t>
            </a:r>
            <a:r>
              <a:rPr sz="2600" dirty="0">
                <a:latin typeface="Calibri"/>
                <a:cs typeface="Calibri"/>
              </a:rPr>
              <a:t>nso</a:t>
            </a:r>
            <a:r>
              <a:rPr sz="2600" spc="-45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--</a:t>
            </a:r>
            <a:r>
              <a:rPr sz="2600" spc="-10" dirty="0">
                <a:latin typeface="Calibri"/>
                <a:cs typeface="Calibri"/>
              </a:rPr>
              <a:t>-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cameras </a:t>
            </a:r>
            <a:r>
              <a:rPr sz="2600" spc="-5" dirty="0">
                <a:latin typeface="Calibri"/>
                <a:cs typeface="Calibri"/>
              </a:rPr>
              <a:t>an</a:t>
            </a:r>
            <a:r>
              <a:rPr sz="2600" dirty="0">
                <a:latin typeface="Calibri"/>
                <a:cs typeface="Calibri"/>
              </a:rPr>
              <a:t>d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infrared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range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finde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s</a:t>
            </a:r>
          </a:p>
          <a:p>
            <a:pPr marL="469900" indent="-457200">
              <a:lnSpc>
                <a:spcPts val="2895"/>
              </a:lnSpc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2600" spc="-15" dirty="0">
                <a:latin typeface="Calibri"/>
                <a:cs typeface="Calibri"/>
              </a:rPr>
              <a:t>Actuators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--</a:t>
            </a:r>
            <a:r>
              <a:rPr sz="2600" spc="-15" dirty="0">
                <a:latin typeface="Calibri"/>
                <a:cs typeface="Calibri"/>
              </a:rPr>
              <a:t>–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spc="-40" dirty="0">
                <a:latin typeface="Calibri"/>
                <a:cs typeface="Calibri"/>
              </a:rPr>
              <a:t>v</a:t>
            </a:r>
            <a:r>
              <a:rPr sz="2600" spc="-5" dirty="0">
                <a:latin typeface="Calibri"/>
                <a:cs typeface="Calibri"/>
              </a:rPr>
              <a:t>ariou</a:t>
            </a:r>
            <a:r>
              <a:rPr sz="2600" dirty="0">
                <a:latin typeface="Calibri"/>
                <a:cs typeface="Calibri"/>
              </a:rPr>
              <a:t>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motors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for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actuators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50000"/>
              </a:lnSpc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software</a:t>
            </a:r>
            <a:r>
              <a:rPr sz="26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agent:</a:t>
            </a:r>
            <a:endParaRPr sz="2600" dirty="0">
              <a:latin typeface="Calibri"/>
              <a:cs typeface="Calibri"/>
            </a:endParaRPr>
          </a:p>
          <a:p>
            <a:pPr marL="297815" marR="215900" indent="-285750">
              <a:lnSpc>
                <a:spcPts val="2500"/>
              </a:lnSpc>
              <a:spcBef>
                <a:spcPts val="490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1750" spc="-175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lang="en-IN" sz="1750" spc="-1750" dirty="0">
                <a:solidFill>
                  <a:srgbClr val="539E39"/>
                </a:solidFill>
                <a:latin typeface="Microsoft Sans Serif"/>
                <a:cs typeface="Microsoft Sans Serif"/>
              </a:rPr>
              <a:t>    </a:t>
            </a:r>
            <a:r>
              <a:rPr sz="2600" dirty="0">
                <a:latin typeface="Calibri"/>
                <a:cs typeface="Calibri"/>
              </a:rPr>
              <a:t>Sensors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--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Keystrokes,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contents,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received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network</a:t>
            </a:r>
            <a:r>
              <a:rPr sz="2600" spc="650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packages</a:t>
            </a:r>
            <a:endParaRPr sz="2600" dirty="0">
              <a:latin typeface="Calibri"/>
              <a:cs typeface="Calibri"/>
            </a:endParaRPr>
          </a:p>
          <a:p>
            <a:pPr marL="297815" marR="5080" indent="-285750">
              <a:lnSpc>
                <a:spcPts val="2500"/>
              </a:lnSpc>
              <a:spcBef>
                <a:spcPts val="385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1750" spc="-175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75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600" spc="-10" dirty="0">
                <a:latin typeface="Calibri"/>
                <a:cs typeface="Calibri"/>
              </a:rPr>
              <a:t>Actuators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--</a:t>
            </a:r>
            <a:r>
              <a:rPr sz="2600" dirty="0">
                <a:latin typeface="Calibri"/>
                <a:cs typeface="Calibri"/>
              </a:rPr>
              <a:t>–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Displays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screen,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files,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network</a:t>
            </a:r>
            <a:r>
              <a:rPr sz="2600" spc="650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packets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486" y="664402"/>
            <a:ext cx="3681240" cy="479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8079" y="4328093"/>
            <a:ext cx="3778790" cy="560244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CB6A20-BDA5-B0C0-03C2-3E4BD979B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lang="en-PK" spc="-50" smtClean="0"/>
              <a:t>33</a:t>
            </a:fld>
            <a:endParaRPr lang="en-PK" spc="-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213034"/>
            <a:ext cx="3773932" cy="4161011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2700" spc="-50" dirty="0">
                <a:latin typeface="Calibri"/>
                <a:cs typeface="Calibri"/>
              </a:rPr>
              <a:t>Two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locations: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A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an</a:t>
            </a:r>
            <a:r>
              <a:rPr sz="2700" dirty="0">
                <a:latin typeface="Calibri"/>
                <a:cs typeface="Calibri"/>
              </a:rPr>
              <a:t>d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</a:t>
            </a:r>
          </a:p>
          <a:p>
            <a:pPr marL="12700">
              <a:lnSpc>
                <a:spcPct val="100000"/>
              </a:lnSpc>
              <a:spcBef>
                <a:spcPts val="395"/>
              </a:spcBef>
              <a:tabLst>
                <a:tab pos="268605" algn="l"/>
              </a:tabLst>
            </a:pPr>
            <a:r>
              <a:rPr sz="2700" b="1" spc="-20" dirty="0">
                <a:solidFill>
                  <a:srgbClr val="FF0000"/>
                </a:solidFill>
                <a:latin typeface="Calibri"/>
                <a:cs typeface="Calibri"/>
              </a:rPr>
              <a:t>Precepts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3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spc="-10" dirty="0">
                <a:latin typeface="Calibri"/>
                <a:cs typeface="Calibri"/>
              </a:rPr>
              <a:t>location</a:t>
            </a:r>
            <a:endParaRPr sz="2300" dirty="0">
              <a:latin typeface="Calibri"/>
              <a:cs typeface="Calibri"/>
            </a:endParaRPr>
          </a:p>
          <a:p>
            <a:pPr marL="363220" marR="1858645" lvl="1" indent="-67945">
              <a:lnSpc>
                <a:spcPct val="110900"/>
              </a:lnSpc>
              <a:buClr>
                <a:srgbClr val="539E39"/>
              </a:buClr>
              <a:buFont typeface="Verdana"/>
              <a:buChar char="◦"/>
              <a:tabLst>
                <a:tab pos="363220" algn="l"/>
                <a:tab pos="523875" algn="l"/>
              </a:tabLst>
            </a:pPr>
            <a:r>
              <a:rPr sz="2300" spc="-25" dirty="0">
                <a:latin typeface="Calibri"/>
                <a:cs typeface="Calibri"/>
              </a:rPr>
              <a:t>	contents </a:t>
            </a:r>
            <a:r>
              <a:rPr sz="2300" dirty="0">
                <a:latin typeface="Calibri"/>
                <a:cs typeface="Calibri"/>
              </a:rPr>
              <a:t>[A, </a:t>
            </a:r>
            <a:r>
              <a:rPr sz="2300" spc="-10" dirty="0">
                <a:latin typeface="Calibri"/>
                <a:cs typeface="Calibri"/>
              </a:rPr>
              <a:t>Dirty]</a:t>
            </a:r>
            <a:endParaRPr sz="23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68605" algn="l"/>
              </a:tabLst>
            </a:pPr>
            <a:r>
              <a:rPr sz="2700" b="1" dirty="0">
                <a:solidFill>
                  <a:srgbClr val="FF0000"/>
                </a:solidFill>
                <a:latin typeface="Calibri"/>
                <a:cs typeface="Calibri"/>
              </a:rPr>
              <a:t>Actions</a:t>
            </a:r>
            <a:endParaRPr sz="27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2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i="1" spc="-20" dirty="0">
                <a:latin typeface="Calibri"/>
                <a:cs typeface="Calibri"/>
              </a:rPr>
              <a:t>Left</a:t>
            </a:r>
            <a:endParaRPr sz="23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i="1" spc="-10" dirty="0">
                <a:latin typeface="Calibri"/>
                <a:cs typeface="Calibri"/>
              </a:rPr>
              <a:t>Right</a:t>
            </a:r>
            <a:endParaRPr sz="2300" dirty="0">
              <a:latin typeface="Calibri"/>
              <a:cs typeface="Calibri"/>
            </a:endParaRPr>
          </a:p>
          <a:p>
            <a:pPr marL="525145" lvl="1" indent="-229235">
              <a:lnSpc>
                <a:spcPct val="100000"/>
              </a:lnSpc>
              <a:spcBef>
                <a:spcPts val="300"/>
              </a:spcBef>
              <a:buClr>
                <a:srgbClr val="539E39"/>
              </a:buClr>
              <a:buFont typeface="Verdana"/>
              <a:buChar char="◦"/>
              <a:tabLst>
                <a:tab pos="525145" algn="l"/>
              </a:tabLst>
            </a:pPr>
            <a:r>
              <a:rPr sz="2300" i="1" spc="-20" dirty="0">
                <a:latin typeface="Calibri"/>
                <a:cs typeface="Calibri"/>
              </a:rPr>
              <a:t>Suck</a:t>
            </a:r>
            <a:endParaRPr sz="2300" dirty="0">
              <a:latin typeface="Calibri"/>
              <a:cs typeface="Calibri"/>
            </a:endParaRPr>
          </a:p>
          <a:p>
            <a:pPr marL="524510" lvl="1" indent="-228600">
              <a:lnSpc>
                <a:spcPct val="100000"/>
              </a:lnSpc>
              <a:spcBef>
                <a:spcPts val="305"/>
              </a:spcBef>
              <a:buClr>
                <a:srgbClr val="539E39"/>
              </a:buClr>
              <a:buFont typeface="Verdana"/>
              <a:buChar char="◦"/>
              <a:tabLst>
                <a:tab pos="524510" algn="l"/>
              </a:tabLst>
            </a:pPr>
            <a:r>
              <a:rPr sz="2300" i="1" spc="-20" dirty="0">
                <a:latin typeface="Calibri"/>
                <a:cs typeface="Calibri"/>
              </a:rPr>
              <a:t>NoOp</a:t>
            </a:r>
            <a:endParaRPr sz="23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892" y="337146"/>
            <a:ext cx="4854721" cy="39262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362200" y="304800"/>
            <a:ext cx="6782181" cy="6020117"/>
            <a:chOff x="2515616" y="1211262"/>
            <a:chExt cx="6628765" cy="51136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5699" y="1211262"/>
              <a:ext cx="2808300" cy="143351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15616" y="2590800"/>
              <a:ext cx="6628383" cy="37338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52117"/>
            <a:ext cx="7665084" cy="8077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68605" marR="5080" indent="-256540">
              <a:lnSpc>
                <a:spcPts val="2920"/>
              </a:lnSpc>
              <a:spcBef>
                <a:spcPts val="459"/>
              </a:spcBef>
              <a:tabLst>
                <a:tab pos="268605" algn="l"/>
              </a:tabLst>
            </a:pPr>
            <a:r>
              <a:rPr spc="-18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700" spc="-10" dirty="0">
                <a:latin typeface="Calibri"/>
                <a:cs typeface="Calibri"/>
              </a:rPr>
              <a:t>Environment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essentially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"problems"</a:t>
            </a:r>
            <a:r>
              <a:rPr sz="27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265" dirty="0">
                <a:latin typeface="Calibri"/>
                <a:cs typeface="Calibri"/>
              </a:rPr>
              <a:t>which</a:t>
            </a:r>
            <a:r>
              <a:rPr sz="2700" spc="675" dirty="0">
                <a:latin typeface="Calibri"/>
                <a:cs typeface="Calibri"/>
              </a:rPr>
              <a:t>   </a:t>
            </a:r>
            <a:r>
              <a:rPr sz="2700" dirty="0">
                <a:latin typeface="Calibri"/>
                <a:cs typeface="Calibri"/>
              </a:rPr>
              <a:t>rational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agents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0000"/>
                </a:solidFill>
                <a:latin typeface="Calibri"/>
                <a:cs typeface="Calibri"/>
              </a:rPr>
              <a:t>"solutions"</a:t>
            </a:r>
            <a:r>
              <a:rPr sz="2700" b="1" spc="-10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5668" y="2231263"/>
            <a:ext cx="6920230" cy="1003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200" spc="-1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Rationality</a:t>
            </a:r>
            <a:endParaRPr sz="3200" dirty="0"/>
          </a:p>
          <a:p>
            <a:pPr marL="1052195">
              <a:spcBef>
                <a:spcPts val="10"/>
              </a:spcBef>
            </a:pPr>
            <a:r>
              <a:rPr sz="3200" u="none" dirty="0"/>
              <a:t>What</a:t>
            </a:r>
            <a:r>
              <a:rPr sz="3200" u="none" spc="-80" dirty="0"/>
              <a:t> </a:t>
            </a:r>
            <a:r>
              <a:rPr sz="3200" u="none" dirty="0"/>
              <a:t>is</a:t>
            </a:r>
            <a:r>
              <a:rPr sz="3200" u="none" spc="-50" dirty="0"/>
              <a:t> </a:t>
            </a:r>
            <a:r>
              <a:rPr sz="3200" u="none" dirty="0"/>
              <a:t>rational</a:t>
            </a:r>
            <a:r>
              <a:rPr sz="3200" u="none" spc="-90" dirty="0"/>
              <a:t> </a:t>
            </a:r>
            <a:r>
              <a:rPr sz="3200" u="none" dirty="0"/>
              <a:t>at</a:t>
            </a:r>
            <a:r>
              <a:rPr sz="3200" u="none" spc="-65" dirty="0"/>
              <a:t> </a:t>
            </a:r>
            <a:r>
              <a:rPr sz="3200" u="none" dirty="0"/>
              <a:t>any</a:t>
            </a:r>
            <a:r>
              <a:rPr sz="3200" u="none" spc="-60" dirty="0"/>
              <a:t> </a:t>
            </a:r>
            <a:r>
              <a:rPr sz="3200" u="none" dirty="0"/>
              <a:t>given</a:t>
            </a:r>
            <a:r>
              <a:rPr sz="3200" u="none" spc="-80" dirty="0"/>
              <a:t> </a:t>
            </a:r>
            <a:r>
              <a:rPr sz="3200" u="none" spc="-10" dirty="0"/>
              <a:t>time?</a:t>
            </a:r>
            <a:endParaRPr sz="320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7232904" y="6587667"/>
            <a:ext cx="21717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pPr marL="101600">
                <a:lnSpc>
                  <a:spcPts val="1045"/>
                </a:lnSpc>
              </a:pPr>
              <a:t>35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3429002"/>
            <a:ext cx="7840980" cy="25949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things:</a:t>
            </a:r>
            <a:endParaRPr sz="2800" dirty="0">
              <a:latin typeface="Calibri"/>
              <a:cs typeface="Calibri"/>
            </a:endParaRPr>
          </a:p>
          <a:p>
            <a:pPr marL="354965" marR="5080" indent="-342900">
              <a:lnSpc>
                <a:spcPts val="3020"/>
              </a:lnSpc>
              <a:spcBef>
                <a:spcPts val="459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1900" spc="-19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sz="1900"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performance</a:t>
            </a:r>
            <a:r>
              <a:rPr sz="2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measure</a:t>
            </a:r>
            <a:r>
              <a:rPr sz="2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criterion</a:t>
            </a:r>
            <a:r>
              <a:rPr lang="en-IN" sz="2800" spc="7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success.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spcBef>
                <a:spcPts val="20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lang="en-IN" sz="2800" spc="-10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agent's</a:t>
            </a:r>
            <a:r>
              <a:rPr sz="28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prior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knowledge</a:t>
            </a:r>
            <a:r>
              <a:rPr sz="28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environment</a:t>
            </a:r>
            <a:r>
              <a:rPr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spcBef>
                <a:spcPts val="60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2800" dirty="0">
                <a:latin typeface="Calibri"/>
                <a:cs typeface="Calibri"/>
              </a:rPr>
              <a:t>The </a:t>
            </a:r>
            <a:r>
              <a:rPr sz="2800" b="1" spc="-15" dirty="0">
                <a:solidFill>
                  <a:srgbClr val="FF0000"/>
                </a:solidFill>
                <a:latin typeface="Calibri"/>
                <a:cs typeface="Calibri"/>
              </a:rPr>
              <a:t>actions</a:t>
            </a:r>
            <a:r>
              <a:rPr sz="2800" b="1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agent </a:t>
            </a:r>
            <a:r>
              <a:rPr sz="2800" spc="-25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perform.</a:t>
            </a:r>
            <a:endParaRPr sz="2800" dirty="0">
              <a:latin typeface="Calibri"/>
              <a:cs typeface="Calibri"/>
            </a:endParaRPr>
          </a:p>
          <a:p>
            <a:pPr marL="469900" indent="-457200">
              <a:spcBef>
                <a:spcPts val="75"/>
              </a:spcBef>
              <a:buFont typeface="Arial" panose="020B0604020202020204" pitchFamily="34" charset="0"/>
              <a:buChar char="•"/>
              <a:tabLst>
                <a:tab pos="268605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agent's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b="1" spc="-25" dirty="0">
                <a:solidFill>
                  <a:srgbClr val="FF0000"/>
                </a:solidFill>
                <a:latin typeface="Calibri"/>
                <a:cs typeface="Calibri"/>
              </a:rPr>
              <a:t>percept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FF0000"/>
                </a:solidFill>
                <a:latin typeface="Calibri"/>
                <a:cs typeface="Calibri"/>
              </a:rPr>
              <a:t>sequence</a:t>
            </a:r>
            <a:r>
              <a:rPr sz="2800" b="1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date.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1" y="664392"/>
            <a:ext cx="4051571" cy="3926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3440" y="1519429"/>
            <a:ext cx="2092960" cy="47448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3700"/>
              </a:lnSpc>
            </a:pP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32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3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0000"/>
                </a:solidFill>
                <a:latin typeface="Calibri"/>
                <a:cs typeface="Calibri"/>
              </a:rPr>
              <a:t>step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45670" y="1488389"/>
            <a:ext cx="703325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6191250" algn="l"/>
              </a:tabLst>
            </a:pPr>
            <a:r>
              <a:rPr sz="3200" dirty="0">
                <a:latin typeface="Calibri"/>
                <a:cs typeface="Calibri"/>
              </a:rPr>
              <a:t>In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designing</a:t>
            </a:r>
            <a:r>
              <a:rPr sz="3200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3200" i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3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agent</a:t>
            </a:r>
            <a:r>
              <a:rPr lang="en-IN" sz="32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must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668" y="1976757"/>
            <a:ext cx="7203440" cy="3453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8605" marR="5080"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always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specify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task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environment </a:t>
            </a:r>
            <a:r>
              <a:rPr sz="3200" dirty="0">
                <a:latin typeface="Calibri"/>
                <a:cs typeface="Calibri"/>
              </a:rPr>
              <a:t>(PEAS)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fully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possible.</a:t>
            </a:r>
            <a:endParaRPr sz="3200" dirty="0">
              <a:latin typeface="Calibri"/>
              <a:cs typeface="Calibri"/>
            </a:endParaRPr>
          </a:p>
          <a:p>
            <a:pPr marL="12700">
              <a:spcBef>
                <a:spcPts val="395"/>
              </a:spcBef>
            </a:pPr>
            <a:r>
              <a:rPr sz="32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PEAS:</a:t>
            </a:r>
            <a:endParaRPr sz="3200" dirty="0">
              <a:latin typeface="Calibri"/>
              <a:cs typeface="Calibri"/>
            </a:endParaRPr>
          </a:p>
          <a:p>
            <a:pPr marL="910590" indent="-457200">
              <a:spcBef>
                <a:spcPts val="425"/>
              </a:spcBef>
              <a:buFont typeface="Arial" panose="020B0604020202020204" pitchFamily="34" charset="0"/>
              <a:buChar char="•"/>
              <a:tabLst>
                <a:tab pos="709295" algn="l"/>
              </a:tabLst>
            </a:pPr>
            <a:r>
              <a:rPr sz="2800" spc="-25" dirty="0">
                <a:latin typeface="Calibri"/>
                <a:cs typeface="Calibri"/>
              </a:rPr>
              <a:t>Performance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measure</a:t>
            </a:r>
            <a:endParaRPr sz="2800" dirty="0">
              <a:latin typeface="Calibri"/>
              <a:cs typeface="Calibri"/>
            </a:endParaRPr>
          </a:p>
          <a:p>
            <a:pPr marL="910590" indent="-457200">
              <a:spcBef>
                <a:spcPts val="395"/>
              </a:spcBef>
              <a:buFont typeface="Arial" panose="020B0604020202020204" pitchFamily="34" charset="0"/>
              <a:buChar char="•"/>
              <a:tabLst>
                <a:tab pos="709295" algn="l"/>
              </a:tabLst>
            </a:pPr>
            <a:r>
              <a:rPr sz="2800" spc="-30" dirty="0">
                <a:latin typeface="Calibri"/>
                <a:cs typeface="Calibri"/>
              </a:rPr>
              <a:t>Environment</a:t>
            </a:r>
            <a:endParaRPr sz="2800" dirty="0">
              <a:latin typeface="Calibri"/>
              <a:cs typeface="Calibri"/>
            </a:endParaRPr>
          </a:p>
          <a:p>
            <a:pPr marL="910590" indent="-457200">
              <a:spcBef>
                <a:spcPts val="409"/>
              </a:spcBef>
              <a:buFont typeface="Arial" panose="020B0604020202020204" pitchFamily="34" charset="0"/>
              <a:buChar char="•"/>
              <a:tabLst>
                <a:tab pos="709295" algn="l"/>
              </a:tabLst>
            </a:pPr>
            <a:r>
              <a:rPr sz="2800" spc="-25" dirty="0">
                <a:latin typeface="Calibri"/>
                <a:cs typeface="Calibri"/>
              </a:rPr>
              <a:t>Actuators</a:t>
            </a:r>
            <a:endParaRPr sz="2800" dirty="0">
              <a:latin typeface="Calibri"/>
              <a:cs typeface="Calibri"/>
            </a:endParaRPr>
          </a:p>
          <a:p>
            <a:pPr marL="910590" indent="-457200">
              <a:spcBef>
                <a:spcPts val="395"/>
              </a:spcBef>
              <a:buFont typeface="Arial" panose="020B0604020202020204" pitchFamily="34" charset="0"/>
              <a:buChar char="•"/>
              <a:tabLst>
                <a:tab pos="709295" algn="l"/>
              </a:tabLst>
            </a:pPr>
            <a:r>
              <a:rPr sz="2800" spc="-20" dirty="0">
                <a:latin typeface="Calibri"/>
                <a:cs typeface="Calibri"/>
              </a:rPr>
              <a:t>Sensors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1" y="664392"/>
            <a:ext cx="4051571" cy="39262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xfrm>
            <a:off x="7232904" y="6587667"/>
            <a:ext cx="21717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pPr marL="101600">
                <a:lnSpc>
                  <a:spcPts val="1045"/>
                </a:lnSpc>
              </a:pPr>
              <a:t>36</a:t>
            </a:fld>
            <a:endParaRPr spc="-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442592"/>
            <a:ext cx="8763000" cy="398335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spcBef>
                <a:spcPts val="500"/>
              </a:spcBef>
            </a:pP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PEAS</a:t>
            </a:r>
            <a:r>
              <a:rPr sz="2700" b="1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for</a:t>
            </a:r>
            <a:r>
              <a:rPr sz="2700" b="1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an</a:t>
            </a:r>
            <a:r>
              <a:rPr sz="2700" b="1" u="sng" spc="-5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automated</a:t>
            </a:r>
            <a:r>
              <a:rPr sz="27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taxi-</a:t>
            </a:r>
            <a:r>
              <a:rPr sz="27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driving</a:t>
            </a:r>
            <a:endParaRPr sz="2700" dirty="0">
              <a:latin typeface="Calibri"/>
              <a:cs typeface="Calibri"/>
            </a:endParaRPr>
          </a:p>
          <a:p>
            <a:pPr marL="268605" marR="182245" indent="-256540">
              <a:spcBef>
                <a:spcPts val="395"/>
              </a:spcBef>
              <a:tabLst>
                <a:tab pos="268605" algn="l"/>
              </a:tabLst>
            </a:pPr>
            <a:r>
              <a:rPr spc="-18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700" b="1" spc="-10" dirty="0">
                <a:latin typeface="Calibri"/>
                <a:cs typeface="Calibri"/>
              </a:rPr>
              <a:t>Performance</a:t>
            </a:r>
            <a:r>
              <a:rPr sz="2700" b="1" spc="-10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measure:</a:t>
            </a:r>
            <a:r>
              <a:rPr sz="2700" b="1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Safe,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fast,</a:t>
            </a:r>
            <a:r>
              <a:rPr sz="2700" spc="-1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legal,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comfortable</a:t>
            </a:r>
            <a:r>
              <a:rPr sz="2700" spc="67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trip,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maximize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profits,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etc.</a:t>
            </a:r>
            <a:endParaRPr sz="2700" dirty="0">
              <a:latin typeface="Calibri"/>
              <a:cs typeface="Calibri"/>
            </a:endParaRPr>
          </a:p>
          <a:p>
            <a:pPr marL="268605" marR="885190" indent="-256540">
              <a:spcBef>
                <a:spcPts val="400"/>
              </a:spcBef>
              <a:tabLst>
                <a:tab pos="268605" algn="l"/>
              </a:tabLst>
            </a:pPr>
            <a:r>
              <a:rPr spc="-1800" dirty="0">
                <a:latin typeface="Microsoft Sans Serif"/>
                <a:cs typeface="Microsoft Sans Serif"/>
              </a:rPr>
              <a:t>🞂</a:t>
            </a:r>
            <a:r>
              <a:rPr dirty="0">
                <a:latin typeface="Microsoft Sans Serif"/>
                <a:cs typeface="Microsoft Sans Serif"/>
              </a:rPr>
              <a:t>​</a:t>
            </a:r>
            <a:r>
              <a:rPr sz="2700" b="1" spc="-10" dirty="0">
                <a:latin typeface="Calibri"/>
                <a:cs typeface="Calibri"/>
              </a:rPr>
              <a:t>Environment: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Roads,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other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traffic,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pedestrians,</a:t>
            </a:r>
            <a:r>
              <a:rPr sz="2700" spc="675" dirty="0">
                <a:latin typeface="Calibri"/>
                <a:cs typeface="Calibri"/>
              </a:rPr>
              <a:t>  </a:t>
            </a:r>
            <a:r>
              <a:rPr sz="2700" spc="-10" dirty="0">
                <a:latin typeface="Calibri"/>
                <a:cs typeface="Calibri"/>
              </a:rPr>
              <a:t>customers,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etc.</a:t>
            </a:r>
            <a:endParaRPr sz="2700" dirty="0">
              <a:latin typeface="Calibri"/>
              <a:cs typeface="Calibri"/>
            </a:endParaRPr>
          </a:p>
          <a:p>
            <a:pPr marL="268605" marR="5080" indent="-256540">
              <a:spcBef>
                <a:spcPts val="409"/>
              </a:spcBef>
              <a:tabLst>
                <a:tab pos="268605" algn="l"/>
              </a:tabLst>
            </a:pPr>
            <a:r>
              <a:rPr spc="-1800" dirty="0">
                <a:latin typeface="Microsoft Sans Serif"/>
                <a:cs typeface="Microsoft Sans Serif"/>
              </a:rPr>
              <a:t>🞂</a:t>
            </a:r>
            <a:r>
              <a:rPr dirty="0">
                <a:latin typeface="Microsoft Sans Serif"/>
                <a:cs typeface="Microsoft Sans Serif"/>
              </a:rPr>
              <a:t>​</a:t>
            </a:r>
            <a:r>
              <a:rPr sz="2700" b="1" spc="-10" dirty="0">
                <a:latin typeface="Calibri"/>
                <a:cs typeface="Calibri"/>
              </a:rPr>
              <a:t>Actuators:</a:t>
            </a:r>
            <a:r>
              <a:rPr sz="2700" b="1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Steering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wheel,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30" dirty="0">
                <a:latin typeface="Calibri"/>
                <a:cs typeface="Calibri"/>
              </a:rPr>
              <a:t>accelerator,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brakes,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signal,</a:t>
            </a:r>
            <a:r>
              <a:rPr sz="2700" spc="67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horn,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etc.</a:t>
            </a:r>
            <a:endParaRPr sz="2700" dirty="0">
              <a:latin typeface="Calibri"/>
              <a:cs typeface="Calibri"/>
            </a:endParaRPr>
          </a:p>
          <a:p>
            <a:pPr marL="268605" marR="646430" indent="-256540">
              <a:spcBef>
                <a:spcPts val="395"/>
              </a:spcBef>
              <a:tabLst>
                <a:tab pos="268605" algn="l"/>
              </a:tabLst>
            </a:pPr>
            <a:r>
              <a:rPr spc="-1800" dirty="0">
                <a:latin typeface="Microsoft Sans Serif"/>
                <a:cs typeface="Microsoft Sans Serif"/>
              </a:rPr>
              <a:t>🞂</a:t>
            </a:r>
            <a:r>
              <a:rPr dirty="0">
                <a:latin typeface="Microsoft Sans Serif"/>
                <a:cs typeface="Microsoft Sans Serif"/>
              </a:rPr>
              <a:t>​</a:t>
            </a:r>
            <a:r>
              <a:rPr sz="2700" b="1" dirty="0">
                <a:latin typeface="Calibri"/>
                <a:cs typeface="Calibri"/>
              </a:rPr>
              <a:t>Sensors:</a:t>
            </a:r>
            <a:r>
              <a:rPr sz="2700" b="1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Cameras,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speedometer,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GPS,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odometer,</a:t>
            </a:r>
            <a:r>
              <a:rPr sz="2700" spc="6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engine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sensors,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keyboard,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etc.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0" y="664404"/>
            <a:ext cx="6747524" cy="479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7232904" y="6587667"/>
            <a:ext cx="21717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pPr marL="101600">
                <a:lnSpc>
                  <a:spcPts val="1045"/>
                </a:lnSpc>
              </a:pPr>
              <a:t>37</a:t>
            </a:fld>
            <a:endParaRPr spc="-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70" y="1442592"/>
            <a:ext cx="7945755" cy="357124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spcBef>
                <a:spcPts val="500"/>
              </a:spcBef>
            </a:pP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PEAS</a:t>
            </a:r>
            <a:r>
              <a:rPr sz="2700" b="1" u="sng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for</a:t>
            </a:r>
            <a:r>
              <a:rPr sz="2700" b="1" u="sng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medical</a:t>
            </a:r>
            <a:r>
              <a:rPr sz="2700" b="1" u="sng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diagnosis</a:t>
            </a:r>
            <a:r>
              <a:rPr sz="2700" b="1" u="sng" spc="-6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system</a:t>
            </a:r>
            <a:endParaRPr sz="2700" dirty="0">
              <a:latin typeface="Calibri"/>
              <a:cs typeface="Calibri"/>
            </a:endParaRPr>
          </a:p>
          <a:p>
            <a:pPr marL="268605" marR="5080" indent="-256540">
              <a:spcBef>
                <a:spcPts val="395"/>
              </a:spcBef>
              <a:tabLst>
                <a:tab pos="268605" algn="l"/>
              </a:tabLst>
            </a:pPr>
            <a:r>
              <a:rPr spc="-1800" dirty="0">
                <a:solidFill>
                  <a:srgbClr val="539E39"/>
                </a:solidFill>
                <a:latin typeface="Microsoft Sans Serif"/>
                <a:cs typeface="Microsoft Sans Serif"/>
              </a:rPr>
              <a:t>🞂</a:t>
            </a:r>
            <a:r>
              <a:rPr dirty="0">
                <a:solidFill>
                  <a:srgbClr val="539E39"/>
                </a:solidFill>
                <a:latin typeface="Microsoft Sans Serif"/>
                <a:cs typeface="Microsoft Sans Serif"/>
              </a:rPr>
              <a:t>​</a:t>
            </a:r>
            <a:r>
              <a:rPr sz="2700" b="1" spc="-10" dirty="0">
                <a:latin typeface="Calibri"/>
                <a:cs typeface="Calibri"/>
              </a:rPr>
              <a:t>Performance</a:t>
            </a:r>
            <a:r>
              <a:rPr sz="2700" b="1" spc="-10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measure:</a:t>
            </a:r>
            <a:r>
              <a:rPr sz="2700" b="1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Healthy</a:t>
            </a:r>
            <a:r>
              <a:rPr sz="2700" spc="-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patient,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minimize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spc="-290" dirty="0">
                <a:latin typeface="Calibri"/>
                <a:cs typeface="Calibri"/>
              </a:rPr>
              <a:t>costs</a:t>
            </a:r>
            <a:r>
              <a:rPr sz="2700" spc="675" dirty="0">
                <a:latin typeface="Calibri"/>
                <a:cs typeface="Calibri"/>
              </a:rPr>
              <a:t>   </a:t>
            </a:r>
            <a:r>
              <a:rPr sz="2700" spc="-20" dirty="0">
                <a:latin typeface="Calibri"/>
                <a:cs typeface="Calibri"/>
              </a:rPr>
              <a:t>etc.</a:t>
            </a:r>
            <a:endParaRPr sz="2700" dirty="0">
              <a:latin typeface="Calibri"/>
              <a:cs typeface="Calibri"/>
            </a:endParaRPr>
          </a:p>
          <a:p>
            <a:pPr marL="12700">
              <a:spcBef>
                <a:spcPts val="400"/>
              </a:spcBef>
              <a:tabLst>
                <a:tab pos="268605" algn="l"/>
              </a:tabLst>
            </a:pPr>
            <a:r>
              <a:rPr sz="2700" b="1" spc="-20" dirty="0">
                <a:latin typeface="Calibri"/>
                <a:cs typeface="Calibri"/>
              </a:rPr>
              <a:t>Environment: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Patient, </a:t>
            </a:r>
            <a:r>
              <a:rPr sz="2700" spc="-5" dirty="0">
                <a:latin typeface="Calibri"/>
                <a:cs typeface="Calibri"/>
              </a:rPr>
              <a:t>hospital,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staff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etc.</a:t>
            </a:r>
            <a:endParaRPr sz="2700" dirty="0">
              <a:latin typeface="Calibri"/>
              <a:cs typeface="Calibri"/>
            </a:endParaRPr>
          </a:p>
          <a:p>
            <a:pPr marL="268605" marR="158750" indent="-256540">
              <a:spcBef>
                <a:spcPts val="405"/>
              </a:spcBef>
              <a:tabLst>
                <a:tab pos="268605" algn="l"/>
              </a:tabLst>
            </a:pPr>
            <a:r>
              <a:rPr spc="-1800" dirty="0">
                <a:latin typeface="Microsoft Sans Serif"/>
                <a:cs typeface="Microsoft Sans Serif"/>
              </a:rPr>
              <a:t>🞂</a:t>
            </a:r>
            <a:r>
              <a:rPr dirty="0">
                <a:latin typeface="Microsoft Sans Serif"/>
                <a:cs typeface="Microsoft Sans Serif"/>
              </a:rPr>
              <a:t>​</a:t>
            </a:r>
            <a:r>
              <a:rPr sz="2700" b="1" dirty="0">
                <a:latin typeface="Calibri"/>
                <a:cs typeface="Calibri"/>
              </a:rPr>
              <a:t>Actuators:</a:t>
            </a:r>
            <a:r>
              <a:rPr sz="2700" b="1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Screen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display</a:t>
            </a:r>
            <a:r>
              <a:rPr sz="2700" spc="-1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(questions,</a:t>
            </a:r>
            <a:r>
              <a:rPr sz="2700" spc="-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tests,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diagnoses,</a:t>
            </a:r>
            <a:r>
              <a:rPr sz="2700" spc="67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treatments,</a:t>
            </a:r>
            <a:r>
              <a:rPr sz="2700" spc="-13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referrals)</a:t>
            </a:r>
            <a:endParaRPr sz="2700" dirty="0">
              <a:latin typeface="Calibri"/>
              <a:cs typeface="Calibri"/>
            </a:endParaRPr>
          </a:p>
          <a:p>
            <a:pPr marL="268605" marR="946150" indent="-256540">
              <a:spcBef>
                <a:spcPts val="400"/>
              </a:spcBef>
              <a:tabLst>
                <a:tab pos="268605" algn="l"/>
              </a:tabLst>
            </a:pPr>
            <a:r>
              <a:rPr spc="-1800" dirty="0">
                <a:latin typeface="Microsoft Sans Serif"/>
                <a:cs typeface="Microsoft Sans Serif"/>
              </a:rPr>
              <a:t>🞂</a:t>
            </a:r>
            <a:r>
              <a:rPr dirty="0">
                <a:latin typeface="Microsoft Sans Serif"/>
                <a:cs typeface="Microsoft Sans Serif"/>
              </a:rPr>
              <a:t>​</a:t>
            </a:r>
            <a:r>
              <a:rPr sz="2700" b="1" dirty="0">
                <a:latin typeface="Calibri"/>
                <a:cs typeface="Calibri"/>
              </a:rPr>
              <a:t>Sensors:</a:t>
            </a:r>
            <a:r>
              <a:rPr sz="2700" b="1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Keyboard</a:t>
            </a:r>
            <a:r>
              <a:rPr sz="2700" spc="-10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(entry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symptoms,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findings,</a:t>
            </a:r>
            <a:r>
              <a:rPr sz="2700" spc="67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patient's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answers)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0" y="664404"/>
            <a:ext cx="6747524" cy="479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7232904" y="6587667"/>
            <a:ext cx="21717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pPr marL="101600">
                <a:lnSpc>
                  <a:spcPts val="1045"/>
                </a:lnSpc>
              </a:pPr>
              <a:t>38</a:t>
            </a:fld>
            <a:endParaRPr spc="-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469738"/>
            <a:ext cx="7553325" cy="2931572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PEAS</a:t>
            </a:r>
            <a:r>
              <a:rPr sz="2700" b="1" u="sng" spc="-10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for </a:t>
            </a:r>
            <a:r>
              <a:rPr lang="en-US" sz="27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Interactive English tutor</a:t>
            </a:r>
          </a:p>
          <a:p>
            <a:pPr marL="12700">
              <a:spcBef>
                <a:spcPts val="395"/>
              </a:spcBef>
              <a:tabLst>
                <a:tab pos="268605" algn="l"/>
              </a:tabLst>
            </a:pPr>
            <a:r>
              <a:rPr sz="2700" b="1" spc="-20" dirty="0">
                <a:latin typeface="Calibri"/>
                <a:cs typeface="Calibri"/>
              </a:rPr>
              <a:t>Performance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measure:</a:t>
            </a:r>
            <a:r>
              <a:rPr sz="2700" b="1" spc="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Maximize student's score on test</a:t>
            </a:r>
            <a:endParaRPr sz="2700" dirty="0">
              <a:latin typeface="Calibri"/>
              <a:cs typeface="Calibri"/>
            </a:endParaRPr>
          </a:p>
          <a:p>
            <a:pPr marL="12700">
              <a:tabLst>
                <a:tab pos="268605" algn="l"/>
              </a:tabLst>
            </a:pPr>
            <a:r>
              <a:rPr sz="2700" b="1" spc="-20" dirty="0">
                <a:latin typeface="Calibri"/>
                <a:cs typeface="Calibri"/>
              </a:rPr>
              <a:t>Environment: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Set of students</a:t>
            </a:r>
            <a:endParaRPr sz="2700" dirty="0">
              <a:latin typeface="Calibri"/>
              <a:cs typeface="Calibri"/>
            </a:endParaRPr>
          </a:p>
          <a:p>
            <a:r>
              <a:rPr sz="2700" b="1" spc="-25" dirty="0">
                <a:latin typeface="Calibri"/>
                <a:cs typeface="Calibri"/>
              </a:rPr>
              <a:t>Actuators:</a:t>
            </a:r>
            <a:r>
              <a:rPr sz="2700" b="1" dirty="0">
                <a:latin typeface="Calibri"/>
                <a:cs typeface="Calibri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Screen display (exercises, suggestions, corrections)</a:t>
            </a:r>
            <a:endParaRPr sz="2700" dirty="0">
              <a:latin typeface="Calibri"/>
              <a:cs typeface="Calibri"/>
            </a:endParaRPr>
          </a:p>
          <a:p>
            <a:pPr marL="12700">
              <a:tabLst>
                <a:tab pos="268605" algn="l"/>
              </a:tabLst>
            </a:pPr>
            <a:r>
              <a:rPr sz="2700" b="1" spc="-10" dirty="0">
                <a:latin typeface="Calibri"/>
                <a:cs typeface="Calibri"/>
              </a:rPr>
              <a:t>Sensors: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Keyboard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440" y="664404"/>
            <a:ext cx="6747524" cy="479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7232904" y="6587667"/>
            <a:ext cx="217170" cy="1300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0">
              <a:lnSpc>
                <a:spcPts val="1045"/>
              </a:lnSpc>
            </a:pPr>
            <a:fld id="{81D60167-4931-47E6-BA6A-407CBD079E47}" type="slidenum">
              <a:rPr spc="-50" dirty="0"/>
              <a:pPr marL="101600">
                <a:lnSpc>
                  <a:spcPts val="1045"/>
                </a:lnSpc>
              </a:pPr>
              <a:t>39</a:t>
            </a:fld>
            <a:endParaRPr spc="-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175E-B152-5FCA-F309-67E410AC8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DE333-7487-62E9-81E3-46A278B89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952" y="533400"/>
            <a:ext cx="7880096" cy="430887"/>
          </a:xfrm>
        </p:spPr>
        <p:txBody>
          <a:bodyPr>
            <a:normAutofit fontScale="92500" lnSpcReduction="10000"/>
          </a:bodyPr>
          <a:lstStyle/>
          <a:p>
            <a:r>
              <a:rPr lang="en-IN" sz="2800" dirty="0"/>
              <a:t>Class Task</a:t>
            </a:r>
            <a:endParaRPr lang="en-PK" sz="280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8D16E83-543A-2884-A79A-DFBEB18BCC5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90C86A6-3CCA-B30E-B0F6-921D2B7D5FBF}"/>
              </a:ext>
            </a:extLst>
          </p:cNvPr>
          <p:cNvSpPr txBox="1"/>
          <p:nvPr/>
        </p:nvSpPr>
        <p:spPr>
          <a:xfrm>
            <a:off x="651445" y="1447800"/>
            <a:ext cx="7082155" cy="44441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b="1" dirty="0">
                <a:latin typeface="+mn-lt"/>
              </a:rPr>
              <a:t>Design an AI Agent for any 1 of the following:</a:t>
            </a:r>
            <a:endParaRPr lang="en-US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 student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 doctor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 farmer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 traffic police officer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400" b="1" dirty="0">
                <a:latin typeface="+mn-lt"/>
              </a:rPr>
              <a:t>You must identify: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Environment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Sensors (inputs)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Actions (outputs)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n-lt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40824544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668" y="1438935"/>
            <a:ext cx="8328406" cy="133498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268605" algn="l"/>
                <a:tab pos="3449320" algn="l"/>
              </a:tabLst>
            </a:pPr>
            <a:r>
              <a:rPr sz="2700" b="1" dirty="0">
                <a:latin typeface="Calibri"/>
                <a:cs typeface="Calibri"/>
              </a:rPr>
              <a:t>Artif</a:t>
            </a:r>
            <a:r>
              <a:rPr sz="2700" b="1" spc="-10" dirty="0">
                <a:latin typeface="Calibri"/>
                <a:cs typeface="Calibri"/>
              </a:rPr>
              <a:t>i</a:t>
            </a:r>
            <a:r>
              <a:rPr sz="2700" b="1" dirty="0">
                <a:latin typeface="Calibri"/>
                <a:cs typeface="Calibri"/>
              </a:rPr>
              <a:t>cial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spc="-20" dirty="0">
                <a:latin typeface="Calibri"/>
                <a:cs typeface="Calibri"/>
              </a:rPr>
              <a:t>Intelligence,</a:t>
            </a:r>
            <a:r>
              <a:rPr lang="en-IN" sz="2700" b="1" spc="-20" dirty="0">
                <a:latin typeface="Calibri"/>
                <a:cs typeface="Calibri"/>
              </a:rPr>
              <a:t> </a:t>
            </a:r>
            <a:r>
              <a:rPr sz="2800" spc="-96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lang="en-IN"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Modern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 err="1">
                <a:latin typeface="Calibri"/>
                <a:cs typeface="Calibri"/>
              </a:rPr>
              <a:t>Approac</a:t>
            </a:r>
            <a:r>
              <a:rPr lang="en-IN" sz="2800" spc="-25" dirty="0">
                <a:latin typeface="Calibri"/>
                <a:cs typeface="Calibri"/>
              </a:rPr>
              <a:t>h </a:t>
            </a:r>
            <a:r>
              <a:rPr sz="2800" b="1" dirty="0">
                <a:latin typeface="Calibri"/>
                <a:cs typeface="Calibri"/>
              </a:rPr>
              <a:t>Stuart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J.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Russell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Peter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Norvig</a:t>
            </a:r>
            <a:endParaRPr sz="2800" dirty="0">
              <a:latin typeface="Calibri"/>
              <a:cs typeface="Calibri"/>
            </a:endParaRPr>
          </a:p>
          <a:p>
            <a:pPr marL="525145" lvl="1" indent="-229235">
              <a:lnSpc>
                <a:spcPct val="100000"/>
              </a:lnSpc>
              <a:spcBef>
                <a:spcPts val="330"/>
              </a:spcBef>
              <a:buClr>
                <a:srgbClr val="539E39"/>
              </a:buClr>
              <a:buFont typeface="Verdana"/>
              <a:buChar char="◦"/>
              <a:tabLst>
                <a:tab pos="525145" algn="l"/>
              </a:tabLst>
            </a:pPr>
            <a:r>
              <a:rPr sz="2400" b="1" dirty="0">
                <a:latin typeface="Calibri"/>
                <a:cs typeface="Calibri"/>
              </a:rPr>
              <a:t>Chapter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&amp;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2.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435" y="664402"/>
            <a:ext cx="3664491" cy="4794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045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1337</Words>
  <Application>Microsoft Macintosh PowerPoint</Application>
  <PresentationFormat>On-screen Show (4:3)</PresentationFormat>
  <Paragraphs>223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Microsoft Sans Serif</vt:lpstr>
      <vt:lpstr>Times New Roman</vt:lpstr>
      <vt:lpstr>Trebuchet MS</vt:lpstr>
      <vt:lpstr>Verdana</vt:lpstr>
      <vt:lpstr>Wingdings</vt:lpstr>
      <vt:lpstr>Office Theme</vt:lpstr>
      <vt:lpstr>PowerPoint Presentation</vt:lpstr>
      <vt:lpstr>PowerPoint Presentation</vt:lpstr>
      <vt:lpstr>Artificial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"Can machines think?"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“Laws of Thought” approach</vt:lpstr>
      <vt:lpstr>PowerPoint Presentation</vt:lpstr>
      <vt:lpstr>The rational agent approach</vt:lpstr>
      <vt:lpstr>PowerPoint Presentation</vt:lpstr>
      <vt:lpstr>PowerPoint Presentation</vt:lpstr>
      <vt:lpstr>Agent with an Environment</vt:lpstr>
      <vt:lpstr>PowerPoint Presentation</vt:lpstr>
      <vt:lpstr>PowerPoint Presentation</vt:lpstr>
      <vt:lpstr>PowerPoint Presentation</vt:lpstr>
      <vt:lpstr>PowerPoint Presentation</vt:lpstr>
      <vt:lpstr>Rationality What is rational at any given time?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Tayyaba Rashid</cp:lastModifiedBy>
  <cp:revision>37</cp:revision>
  <dcterms:created xsi:type="dcterms:W3CDTF">2026-01-14T04:03:03Z</dcterms:created>
  <dcterms:modified xsi:type="dcterms:W3CDTF">2026-03-01T08:37:41Z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LastSaved">
    <vt:filetime>2026-01-14T00:00:00Z</vt:filetime>
  </property>
  <property fmtid="{D5CDD505-2E9C-101B-9397-08002B2CF9AE}" pid="4" name="Producer">
    <vt:lpwstr>3-Heights™ PDF Merge Split Shell 6.12.1.11 (http://www.pdf-tools.com)</vt:lpwstr>
  </property>
</Properties>
</file>